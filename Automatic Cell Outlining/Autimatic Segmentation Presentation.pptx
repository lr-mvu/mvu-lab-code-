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1" r:id="rId4"/>
    <p:sldId id="259" r:id="rId5"/>
    <p:sldId id="257" r:id="rId6"/>
    <p:sldId id="260" r:id="rId7"/>
    <p:sldId id="261" r:id="rId8"/>
    <p:sldId id="262" r:id="rId9"/>
    <p:sldId id="263" r:id="rId10"/>
    <p:sldId id="264" r:id="rId11"/>
    <p:sldId id="265" r:id="rId12"/>
    <p:sldId id="266" r:id="rId13"/>
    <p:sldId id="276" r:id="rId14"/>
    <p:sldId id="267" r:id="rId15"/>
    <p:sldId id="268" r:id="rId16"/>
    <p:sldId id="269" r:id="rId17"/>
    <p:sldId id="270" r:id="rId18"/>
    <p:sldId id="272" r:id="rId19"/>
    <p:sldId id="274" r:id="rId20"/>
    <p:sldId id="273"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E4987-67E9-EE1B-FFFE-6CD6D10FE9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AB02580-1F99-5A56-F5AC-5F123A53FF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37398DF-3B18-EE80-570D-52D3175238F7}"/>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5" name="Footer Placeholder 4">
            <a:extLst>
              <a:ext uri="{FF2B5EF4-FFF2-40B4-BE49-F238E27FC236}">
                <a16:creationId xmlns:a16="http://schemas.microsoft.com/office/drawing/2014/main" id="{4176DE17-2E23-EA30-069D-811D4B6BBCA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B0DE104-2D15-6C5D-F775-25CBBA22CBB6}"/>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290116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6B78-06C8-6F9B-57E9-31C81494BB0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F42CF66-4083-2439-2813-E6DC4EE95F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DC4AE4A-366C-E3EE-3887-04A3F1F3955F}"/>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5" name="Footer Placeholder 4">
            <a:extLst>
              <a:ext uri="{FF2B5EF4-FFF2-40B4-BE49-F238E27FC236}">
                <a16:creationId xmlns:a16="http://schemas.microsoft.com/office/drawing/2014/main" id="{EF642262-802E-0304-C0E0-8E266EC3155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123A1A8-F244-BD53-1DBB-4DDE2C6165E9}"/>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3222354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F659-D918-2A05-C3C1-72B931546E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F6F7042-06BC-662C-93EB-4ABF6426E0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4D2A76-0A7E-CCF3-64CB-630F867685ED}"/>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5" name="Footer Placeholder 4">
            <a:extLst>
              <a:ext uri="{FF2B5EF4-FFF2-40B4-BE49-F238E27FC236}">
                <a16:creationId xmlns:a16="http://schemas.microsoft.com/office/drawing/2014/main" id="{F279E6D4-06D5-4DAF-DD93-646CC60A140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6CD95B3-05F8-AADD-1396-7D7402475DB9}"/>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1142602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DC7C6-9963-E226-840B-571FB4623FE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552536E-CAB7-79F2-7B7D-2A9FF93F1C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D95E7575-CD92-1178-49DF-6834966A60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9FDAEE9-2C78-03EB-2D23-AA50E132F7C4}"/>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6" name="Footer Placeholder 5">
            <a:extLst>
              <a:ext uri="{FF2B5EF4-FFF2-40B4-BE49-F238E27FC236}">
                <a16:creationId xmlns:a16="http://schemas.microsoft.com/office/drawing/2014/main" id="{6B273193-A883-D52B-D5F3-B96127DA006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FD4D502-D720-B0B8-C919-6F8454F72848}"/>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2522102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6A507-E54D-AF79-9347-9CBBA32F8EF9}"/>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B8F02E4-EE8F-56AF-A4D9-18DBC3589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C89EB9-D99D-E6FF-E583-F0D9792820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958B43B-E680-A5F3-9C17-A45E9813B6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3AE24E-1744-9335-487D-7E23CC63B8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4E2C72A-0ACE-7DBB-5C60-9E8F971D61A3}"/>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8" name="Footer Placeholder 7">
            <a:extLst>
              <a:ext uri="{FF2B5EF4-FFF2-40B4-BE49-F238E27FC236}">
                <a16:creationId xmlns:a16="http://schemas.microsoft.com/office/drawing/2014/main" id="{FEFF106F-AD61-D696-07B2-47FC82F4E136}"/>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74F904E2-FA10-56D9-6964-99FBDCDACCC9}"/>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4059493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15A62-D7A6-8B92-AA60-59767E4FDAB8}"/>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57A8678C-2FBF-7961-D8A1-745D5CBC65DC}"/>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4" name="Footer Placeholder 3">
            <a:extLst>
              <a:ext uri="{FF2B5EF4-FFF2-40B4-BE49-F238E27FC236}">
                <a16:creationId xmlns:a16="http://schemas.microsoft.com/office/drawing/2014/main" id="{1F27705F-1F22-11F3-D315-BBA664CAC0F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49C9DEA-F2EE-D6D1-9BCC-BAD62FB93329}"/>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985084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BBF203-430E-D19E-BF95-0BA16A45E4E1}"/>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3" name="Footer Placeholder 2">
            <a:extLst>
              <a:ext uri="{FF2B5EF4-FFF2-40B4-BE49-F238E27FC236}">
                <a16:creationId xmlns:a16="http://schemas.microsoft.com/office/drawing/2014/main" id="{242CDBF7-0FD8-56CC-88AB-D8189B30083E}"/>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CBB6058-65DD-C3FE-EC79-962D3477AB67}"/>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3914484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98798-6C88-2963-D630-6F97C18FA2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857392B-075A-9B77-61E4-85A339C94D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21BA990-7A41-0885-B509-6358204A9B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71E2DA-0D9C-FA86-DF44-EDE253E89450}"/>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6" name="Footer Placeholder 5">
            <a:extLst>
              <a:ext uri="{FF2B5EF4-FFF2-40B4-BE49-F238E27FC236}">
                <a16:creationId xmlns:a16="http://schemas.microsoft.com/office/drawing/2014/main" id="{878E8394-DF73-843D-FF5D-7F2087B0B4C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1663FDF-EC22-C8E1-772D-129E4BFE3002}"/>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1391708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0437-1F34-80AB-9B59-8FA98F460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E9B319E2-6185-3953-1DDF-8FFE1F140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580C42A-186D-52D4-EF50-6C0C695C98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9677A2-3ABC-DFEC-3D76-834C01EE9A68}"/>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6" name="Footer Placeholder 5">
            <a:extLst>
              <a:ext uri="{FF2B5EF4-FFF2-40B4-BE49-F238E27FC236}">
                <a16:creationId xmlns:a16="http://schemas.microsoft.com/office/drawing/2014/main" id="{B43DF35D-739B-B01F-3930-0BDE5CC0A02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6578621-D566-7CCA-5A4C-DC1C7DA20F74}"/>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2244728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03737-30F4-4722-ECE6-DF903CA9EB1B}"/>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9FD8E84-ADBA-9C0F-0AD7-A041DD89B0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339E838-0BDB-07C6-2031-FCDF948F2D43}"/>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5" name="Footer Placeholder 4">
            <a:extLst>
              <a:ext uri="{FF2B5EF4-FFF2-40B4-BE49-F238E27FC236}">
                <a16:creationId xmlns:a16="http://schemas.microsoft.com/office/drawing/2014/main" id="{81E9825E-1F58-C1FF-DF31-D969562CD8A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C2CE28C-E50D-403C-40C5-0B9E508075FC}"/>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2729235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D7C01E-B4EE-172D-6E2C-83BD5FF45D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16B95BF-4C00-26C2-ED07-082E97DE74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466D6DE-C07E-46EF-60F4-E562BF12EB28}"/>
              </a:ext>
            </a:extLst>
          </p:cNvPr>
          <p:cNvSpPr>
            <a:spLocks noGrp="1"/>
          </p:cNvSpPr>
          <p:nvPr>
            <p:ph type="dt" sz="half" idx="10"/>
          </p:nvPr>
        </p:nvSpPr>
        <p:spPr/>
        <p:txBody>
          <a:bodyPr/>
          <a:lstStyle/>
          <a:p>
            <a:fld id="{B78E87EA-4C49-45CF-9D65-04CA4EF9EE88}" type="datetimeFigureOut">
              <a:rPr lang="en-CA" smtClean="0"/>
              <a:t>2026-01-16</a:t>
            </a:fld>
            <a:endParaRPr lang="en-CA"/>
          </a:p>
        </p:txBody>
      </p:sp>
      <p:sp>
        <p:nvSpPr>
          <p:cNvPr id="5" name="Footer Placeholder 4">
            <a:extLst>
              <a:ext uri="{FF2B5EF4-FFF2-40B4-BE49-F238E27FC236}">
                <a16:creationId xmlns:a16="http://schemas.microsoft.com/office/drawing/2014/main" id="{71B0F432-762E-D1AE-00AF-74010059E77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C2BEA1D-8728-7A8C-284E-C34DEC58F09D}"/>
              </a:ext>
            </a:extLst>
          </p:cNvPr>
          <p:cNvSpPr>
            <a:spLocks noGrp="1"/>
          </p:cNvSpPr>
          <p:nvPr>
            <p:ph type="sldNum" sz="quarter" idx="12"/>
          </p:nvPr>
        </p:nvSpPr>
        <p:spPr/>
        <p:txBody>
          <a:bodyPr/>
          <a:lstStyle/>
          <a:p>
            <a:fld id="{37F247EC-D740-4A64-8C6D-BA5903882099}" type="slidenum">
              <a:rPr lang="en-CA" smtClean="0"/>
              <a:t>‹#›</a:t>
            </a:fld>
            <a:endParaRPr lang="en-CA"/>
          </a:p>
        </p:txBody>
      </p:sp>
    </p:spTree>
    <p:extLst>
      <p:ext uri="{BB962C8B-B14F-4D97-AF65-F5344CB8AC3E}">
        <p14:creationId xmlns:p14="http://schemas.microsoft.com/office/powerpoint/2010/main" val="1203785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541F7F-93CA-BAFF-93D3-A86D73362E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8DBBC71-47F3-24B0-DE72-23C2B63306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7A8F777-D805-52F7-1B14-7AFC7EAC95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8E87EA-4C49-45CF-9D65-04CA4EF9EE88}" type="datetimeFigureOut">
              <a:rPr lang="en-CA" smtClean="0"/>
              <a:t>2026-01-16</a:t>
            </a:fld>
            <a:endParaRPr lang="en-CA"/>
          </a:p>
        </p:txBody>
      </p:sp>
      <p:sp>
        <p:nvSpPr>
          <p:cNvPr id="5" name="Footer Placeholder 4">
            <a:extLst>
              <a:ext uri="{FF2B5EF4-FFF2-40B4-BE49-F238E27FC236}">
                <a16:creationId xmlns:a16="http://schemas.microsoft.com/office/drawing/2014/main" id="{F6AD3431-8D2A-FA75-7B2E-C7D01A3388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4DA11833-06E6-B6D3-7C4D-EC87E565D0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F247EC-D740-4A64-8C6D-BA5903882099}" type="slidenum">
              <a:rPr lang="en-CA" smtClean="0"/>
              <a:t>‹#›</a:t>
            </a:fld>
            <a:endParaRPr lang="en-CA"/>
          </a:p>
        </p:txBody>
      </p:sp>
    </p:spTree>
    <p:extLst>
      <p:ext uri="{BB962C8B-B14F-4D97-AF65-F5344CB8AC3E}">
        <p14:creationId xmlns:p14="http://schemas.microsoft.com/office/powerpoint/2010/main" val="1792848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C77E-CD55-1253-238A-D0FB22950B2B}"/>
              </a:ext>
            </a:extLst>
          </p:cNvPr>
          <p:cNvSpPr>
            <a:spLocks noGrp="1"/>
          </p:cNvSpPr>
          <p:nvPr>
            <p:ph type="ctrTitle"/>
          </p:nvPr>
        </p:nvSpPr>
        <p:spPr/>
        <p:txBody>
          <a:bodyPr/>
          <a:lstStyle/>
          <a:p>
            <a:r>
              <a:rPr lang="en-US" dirty="0"/>
              <a:t>Lab Programs</a:t>
            </a:r>
            <a:endParaRPr lang="en-CA" dirty="0"/>
          </a:p>
        </p:txBody>
      </p:sp>
      <p:sp>
        <p:nvSpPr>
          <p:cNvPr id="3" name="Subtitle 2">
            <a:extLst>
              <a:ext uri="{FF2B5EF4-FFF2-40B4-BE49-F238E27FC236}">
                <a16:creationId xmlns:a16="http://schemas.microsoft.com/office/drawing/2014/main" id="{51E3D654-D81A-3572-A822-4C9E82FDA67E}"/>
              </a:ext>
            </a:extLst>
          </p:cNvPr>
          <p:cNvSpPr>
            <a:spLocks noGrp="1"/>
          </p:cNvSpPr>
          <p:nvPr>
            <p:ph type="subTitle" idx="1"/>
          </p:nvPr>
        </p:nvSpPr>
        <p:spPr/>
        <p:txBody>
          <a:bodyPr/>
          <a:lstStyle/>
          <a:p>
            <a:r>
              <a:rPr lang="en-US" dirty="0"/>
              <a:t>James and George</a:t>
            </a:r>
            <a:endParaRPr lang="en-CA" dirty="0"/>
          </a:p>
        </p:txBody>
      </p:sp>
    </p:spTree>
    <p:extLst>
      <p:ext uri="{BB962C8B-B14F-4D97-AF65-F5344CB8AC3E}">
        <p14:creationId xmlns:p14="http://schemas.microsoft.com/office/powerpoint/2010/main" val="1882306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CAD6-B297-C8DD-CC54-255AD77EE756}"/>
              </a:ext>
            </a:extLst>
          </p:cNvPr>
          <p:cNvSpPr>
            <a:spLocks noGrp="1"/>
          </p:cNvSpPr>
          <p:nvPr>
            <p:ph type="title"/>
          </p:nvPr>
        </p:nvSpPr>
        <p:spPr>
          <a:xfrm>
            <a:off x="2502281" y="2862262"/>
            <a:ext cx="7187438" cy="1133475"/>
          </a:xfrm>
        </p:spPr>
        <p:txBody>
          <a:bodyPr/>
          <a:lstStyle/>
          <a:p>
            <a:pPr algn="ctr"/>
            <a:r>
              <a:rPr lang="en-US" dirty="0"/>
              <a:t>Cell Outlining Program</a:t>
            </a:r>
            <a:endParaRPr lang="en-CA" dirty="0"/>
          </a:p>
        </p:txBody>
      </p:sp>
    </p:spTree>
    <p:extLst>
      <p:ext uri="{BB962C8B-B14F-4D97-AF65-F5344CB8AC3E}">
        <p14:creationId xmlns:p14="http://schemas.microsoft.com/office/powerpoint/2010/main" val="1755063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EBBB2-F6C6-CB75-BD91-FFDB3F890D40}"/>
              </a:ext>
            </a:extLst>
          </p:cNvPr>
          <p:cNvSpPr>
            <a:spLocks noGrp="1"/>
          </p:cNvSpPr>
          <p:nvPr>
            <p:ph type="title"/>
          </p:nvPr>
        </p:nvSpPr>
        <p:spPr/>
        <p:txBody>
          <a:bodyPr/>
          <a:lstStyle/>
          <a:p>
            <a:r>
              <a:rPr lang="en-US" dirty="0"/>
              <a:t>Program Premise</a:t>
            </a:r>
            <a:endParaRPr lang="en-CA" dirty="0"/>
          </a:p>
        </p:txBody>
      </p:sp>
      <p:sp>
        <p:nvSpPr>
          <p:cNvPr id="3" name="Content Placeholder 2">
            <a:extLst>
              <a:ext uri="{FF2B5EF4-FFF2-40B4-BE49-F238E27FC236}">
                <a16:creationId xmlns:a16="http://schemas.microsoft.com/office/drawing/2014/main" id="{91CF7FB2-D98D-4167-2702-3AA0DD49111A}"/>
              </a:ext>
            </a:extLst>
          </p:cNvPr>
          <p:cNvSpPr>
            <a:spLocks noGrp="1"/>
          </p:cNvSpPr>
          <p:nvPr>
            <p:ph idx="1"/>
          </p:nvPr>
        </p:nvSpPr>
        <p:spPr>
          <a:xfrm>
            <a:off x="838200" y="1825625"/>
            <a:ext cx="5187696" cy="4351338"/>
          </a:xfrm>
        </p:spPr>
        <p:txBody>
          <a:bodyPr/>
          <a:lstStyle/>
          <a:p>
            <a:r>
              <a:rPr lang="en-US" dirty="0"/>
              <a:t>The program automatically detects cell outlines using topographical level curves</a:t>
            </a:r>
          </a:p>
          <a:p>
            <a:r>
              <a:rPr lang="en-US" dirty="0"/>
              <a:t>Create a hull around points of level curves and use as outline</a:t>
            </a:r>
            <a:endParaRPr lang="en-CA" dirty="0"/>
          </a:p>
        </p:txBody>
      </p:sp>
      <p:pic>
        <p:nvPicPr>
          <p:cNvPr id="1026" name="Picture 2" descr="Level curves and contour plots">
            <a:extLst>
              <a:ext uri="{FF2B5EF4-FFF2-40B4-BE49-F238E27FC236}">
                <a16:creationId xmlns:a16="http://schemas.microsoft.com/office/drawing/2014/main" id="{95DC8119-AEBE-C45A-BAC5-4B07461EC5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8252" y="4059935"/>
            <a:ext cx="3974548" cy="24329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E0632FC-5A59-D7A3-7819-33F41E204227}"/>
              </a:ext>
            </a:extLst>
          </p:cNvPr>
          <p:cNvPicPr>
            <a:picLocks noChangeAspect="1"/>
          </p:cNvPicPr>
          <p:nvPr/>
        </p:nvPicPr>
        <p:blipFill>
          <a:blip r:embed="rId3"/>
          <a:stretch>
            <a:fillRect/>
          </a:stretch>
        </p:blipFill>
        <p:spPr>
          <a:xfrm>
            <a:off x="6393339" y="1234152"/>
            <a:ext cx="5475573" cy="5153480"/>
          </a:xfrm>
          <a:prstGeom prst="rect">
            <a:avLst/>
          </a:prstGeom>
        </p:spPr>
      </p:pic>
    </p:spTree>
    <p:extLst>
      <p:ext uri="{BB962C8B-B14F-4D97-AF65-F5344CB8AC3E}">
        <p14:creationId xmlns:p14="http://schemas.microsoft.com/office/powerpoint/2010/main" val="3693101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E685B-A884-5AF2-8065-8845E509CD67}"/>
              </a:ext>
            </a:extLst>
          </p:cNvPr>
          <p:cNvSpPr>
            <a:spLocks noGrp="1"/>
          </p:cNvSpPr>
          <p:nvPr>
            <p:ph type="title"/>
          </p:nvPr>
        </p:nvSpPr>
        <p:spPr/>
        <p:txBody>
          <a:bodyPr/>
          <a:lstStyle/>
          <a:p>
            <a:r>
              <a:rPr lang="en-US" dirty="0"/>
              <a:t>Step 1: Create Max Projections</a:t>
            </a:r>
            <a:endParaRPr lang="en-CA" dirty="0"/>
          </a:p>
        </p:txBody>
      </p:sp>
      <p:sp>
        <p:nvSpPr>
          <p:cNvPr id="3" name="Content Placeholder 2">
            <a:extLst>
              <a:ext uri="{FF2B5EF4-FFF2-40B4-BE49-F238E27FC236}">
                <a16:creationId xmlns:a16="http://schemas.microsoft.com/office/drawing/2014/main" id="{B3C68259-CEE2-89CC-DF51-EE5F10540D85}"/>
              </a:ext>
            </a:extLst>
          </p:cNvPr>
          <p:cNvSpPr>
            <a:spLocks noGrp="1"/>
          </p:cNvSpPr>
          <p:nvPr>
            <p:ph idx="1"/>
          </p:nvPr>
        </p:nvSpPr>
        <p:spPr/>
        <p:txBody>
          <a:bodyPr/>
          <a:lstStyle/>
          <a:p>
            <a:r>
              <a:rPr lang="en-US" dirty="0"/>
              <a:t>Open “Create_Max_Projections.m” in MATLAB 2025</a:t>
            </a:r>
          </a:p>
          <a:p>
            <a:r>
              <a:rPr lang="en-US" dirty="0"/>
              <a:t>Change folder name and identifiers and run</a:t>
            </a:r>
          </a:p>
          <a:p>
            <a:r>
              <a:rPr lang="en-US" dirty="0"/>
              <a:t>Max projections saved in sub folder of inputted folder named “Max Projections”</a:t>
            </a:r>
          </a:p>
          <a:p>
            <a:r>
              <a:rPr lang="en-US" dirty="0"/>
              <a:t>Creating max projections before running the cell outlining program will improve the load time greatly between images </a:t>
            </a:r>
            <a:endParaRPr lang="en-CA" dirty="0"/>
          </a:p>
        </p:txBody>
      </p:sp>
      <p:pic>
        <p:nvPicPr>
          <p:cNvPr id="7" name="Picture 6">
            <a:extLst>
              <a:ext uri="{FF2B5EF4-FFF2-40B4-BE49-F238E27FC236}">
                <a16:creationId xmlns:a16="http://schemas.microsoft.com/office/drawing/2014/main" id="{F9B3E231-2BDA-BC77-45C5-248259663AEF}"/>
              </a:ext>
            </a:extLst>
          </p:cNvPr>
          <p:cNvPicPr>
            <a:picLocks noChangeAspect="1"/>
          </p:cNvPicPr>
          <p:nvPr/>
        </p:nvPicPr>
        <p:blipFill>
          <a:blip r:embed="rId2"/>
          <a:srcRect r="6805"/>
          <a:stretch>
            <a:fillRect/>
          </a:stretch>
        </p:blipFill>
        <p:spPr>
          <a:xfrm>
            <a:off x="1140802" y="4758639"/>
            <a:ext cx="9910396" cy="1198868"/>
          </a:xfrm>
          <a:prstGeom prst="rect">
            <a:avLst/>
          </a:prstGeom>
        </p:spPr>
      </p:pic>
    </p:spTree>
    <p:extLst>
      <p:ext uri="{BB962C8B-B14F-4D97-AF65-F5344CB8AC3E}">
        <p14:creationId xmlns:p14="http://schemas.microsoft.com/office/powerpoint/2010/main" val="384496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27866-19C9-3235-FDE7-2C3BAE92D38C}"/>
              </a:ext>
            </a:extLst>
          </p:cNvPr>
          <p:cNvSpPr>
            <a:spLocks noGrp="1"/>
          </p:cNvSpPr>
          <p:nvPr>
            <p:ph type="title"/>
          </p:nvPr>
        </p:nvSpPr>
        <p:spPr/>
        <p:txBody>
          <a:bodyPr/>
          <a:lstStyle/>
          <a:p>
            <a:r>
              <a:rPr lang="en-US" dirty="0"/>
              <a:t>Step 2: Setup</a:t>
            </a:r>
            <a:endParaRPr lang="en-CA" dirty="0"/>
          </a:p>
        </p:txBody>
      </p:sp>
      <p:sp>
        <p:nvSpPr>
          <p:cNvPr id="3" name="Content Placeholder 2">
            <a:extLst>
              <a:ext uri="{FF2B5EF4-FFF2-40B4-BE49-F238E27FC236}">
                <a16:creationId xmlns:a16="http://schemas.microsoft.com/office/drawing/2014/main" id="{E99E0180-0F61-E03F-A75C-028C4054238F}"/>
              </a:ext>
            </a:extLst>
          </p:cNvPr>
          <p:cNvSpPr>
            <a:spLocks noGrp="1"/>
          </p:cNvSpPr>
          <p:nvPr>
            <p:ph idx="1"/>
          </p:nvPr>
        </p:nvSpPr>
        <p:spPr>
          <a:xfrm>
            <a:off x="679704" y="1533016"/>
            <a:ext cx="5416296" cy="4877563"/>
          </a:xfrm>
        </p:spPr>
        <p:txBody>
          <a:bodyPr>
            <a:normAutofit fontScale="92500" lnSpcReduction="10000"/>
          </a:bodyPr>
          <a:lstStyle/>
          <a:p>
            <a:pPr marL="514350" indent="-514350">
              <a:buFont typeface="+mj-lt"/>
              <a:buAutoNum type="arabicParenR"/>
            </a:pPr>
            <a:r>
              <a:rPr lang="en-US" dirty="0"/>
              <a:t>In </a:t>
            </a:r>
            <a:r>
              <a:rPr lang="en-US" u="sng" dirty="0"/>
              <a:t>MATLAB 2025 </a:t>
            </a:r>
            <a:r>
              <a:rPr lang="en-US" dirty="0"/>
              <a:t>type “appdesigner” in command bar</a:t>
            </a:r>
          </a:p>
          <a:p>
            <a:pPr marL="514350" indent="-514350">
              <a:buFont typeface="+mj-lt"/>
              <a:buAutoNum type="arabicParenR"/>
            </a:pPr>
            <a:r>
              <a:rPr lang="en-US" dirty="0"/>
              <a:t>Open </a:t>
            </a:r>
            <a:r>
              <a:rPr lang="en-US" sz="1700" dirty="0"/>
              <a:t>"Z:\Organized Codes\Automatic Cell Outlining\Automatic_Outlining_GUI.mlapp“</a:t>
            </a:r>
          </a:p>
          <a:p>
            <a:pPr marL="514350" indent="-514350">
              <a:buFont typeface="+mj-lt"/>
              <a:buAutoNum type="arabicParenR"/>
            </a:pPr>
            <a:r>
              <a:rPr lang="en-US" dirty="0"/>
              <a:t>Input nucleus and cell channels you want to use for outlining</a:t>
            </a:r>
          </a:p>
          <a:p>
            <a:pPr lvl="1"/>
            <a:r>
              <a:rPr lang="en-US" dirty="0"/>
              <a:t>Testing done using mRNA as cell channel</a:t>
            </a:r>
          </a:p>
          <a:p>
            <a:pPr marL="514350" indent="-514350">
              <a:buFont typeface="+mj-lt"/>
              <a:buAutoNum type="arabicParenR"/>
            </a:pPr>
            <a:r>
              <a:rPr lang="en-US" dirty="0"/>
              <a:t>Click “Load Folder”, and select folder containing max projections</a:t>
            </a:r>
          </a:p>
          <a:p>
            <a:pPr marL="514350" indent="-514350">
              <a:buFont typeface="+mj-lt"/>
              <a:buAutoNum type="arabicParenR"/>
            </a:pPr>
            <a:r>
              <a:rPr lang="en-US" dirty="0"/>
              <a:t>Change “Image Num” to navigate to different image</a:t>
            </a:r>
          </a:p>
        </p:txBody>
      </p:sp>
      <p:pic>
        <p:nvPicPr>
          <p:cNvPr id="5" name="Picture 4">
            <a:extLst>
              <a:ext uri="{FF2B5EF4-FFF2-40B4-BE49-F238E27FC236}">
                <a16:creationId xmlns:a16="http://schemas.microsoft.com/office/drawing/2014/main" id="{A180FE57-7D9F-2838-5D4F-76C5867713D1}"/>
              </a:ext>
            </a:extLst>
          </p:cNvPr>
          <p:cNvPicPr>
            <a:picLocks noChangeAspect="1"/>
          </p:cNvPicPr>
          <p:nvPr/>
        </p:nvPicPr>
        <p:blipFill>
          <a:blip r:embed="rId2"/>
          <a:stretch>
            <a:fillRect/>
          </a:stretch>
        </p:blipFill>
        <p:spPr>
          <a:xfrm>
            <a:off x="6254496" y="1690688"/>
            <a:ext cx="5596046" cy="4450188"/>
          </a:xfrm>
          <a:prstGeom prst="rect">
            <a:avLst/>
          </a:prstGeom>
        </p:spPr>
      </p:pic>
      <p:sp>
        <p:nvSpPr>
          <p:cNvPr id="6" name="Oval 5">
            <a:extLst>
              <a:ext uri="{FF2B5EF4-FFF2-40B4-BE49-F238E27FC236}">
                <a16:creationId xmlns:a16="http://schemas.microsoft.com/office/drawing/2014/main" id="{8FEC8A4E-657D-C2EA-724D-4B3AD78BB9DF}"/>
              </a:ext>
            </a:extLst>
          </p:cNvPr>
          <p:cNvSpPr/>
          <p:nvPr/>
        </p:nvSpPr>
        <p:spPr>
          <a:xfrm>
            <a:off x="10378440" y="1993392"/>
            <a:ext cx="1536192" cy="55778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ECB88882-6EF8-BBE4-C423-002FACEDC32E}"/>
              </a:ext>
            </a:extLst>
          </p:cNvPr>
          <p:cNvSpPr/>
          <p:nvPr/>
        </p:nvSpPr>
        <p:spPr>
          <a:xfrm>
            <a:off x="10479024" y="4169664"/>
            <a:ext cx="1271016" cy="24688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Oval 7">
            <a:extLst>
              <a:ext uri="{FF2B5EF4-FFF2-40B4-BE49-F238E27FC236}">
                <a16:creationId xmlns:a16="http://schemas.microsoft.com/office/drawing/2014/main" id="{B4DD75C6-CB35-9BC5-0311-A8518017A40A}"/>
              </a:ext>
            </a:extLst>
          </p:cNvPr>
          <p:cNvSpPr/>
          <p:nvPr/>
        </p:nvSpPr>
        <p:spPr>
          <a:xfrm>
            <a:off x="10474452" y="3927189"/>
            <a:ext cx="1371518"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92AAB7FD-7783-9093-5AC8-B47E167D69AB}"/>
              </a:ext>
            </a:extLst>
          </p:cNvPr>
          <p:cNvSpPr txBox="1"/>
          <p:nvPr/>
        </p:nvSpPr>
        <p:spPr>
          <a:xfrm>
            <a:off x="10050780" y="2087618"/>
            <a:ext cx="338328" cy="369332"/>
          </a:xfrm>
          <a:prstGeom prst="rect">
            <a:avLst/>
          </a:prstGeom>
          <a:noFill/>
        </p:spPr>
        <p:txBody>
          <a:bodyPr wrap="square" rtlCol="0">
            <a:spAutoFit/>
          </a:bodyPr>
          <a:lstStyle/>
          <a:p>
            <a:r>
              <a:rPr lang="en-US" dirty="0">
                <a:solidFill>
                  <a:srgbClr val="FF0000"/>
                </a:solidFill>
              </a:rPr>
              <a:t>3</a:t>
            </a:r>
            <a:endParaRPr lang="en-CA" dirty="0">
              <a:solidFill>
                <a:srgbClr val="FF0000"/>
              </a:solidFill>
            </a:endParaRPr>
          </a:p>
        </p:txBody>
      </p:sp>
      <p:sp>
        <p:nvSpPr>
          <p:cNvPr id="10" name="TextBox 9">
            <a:extLst>
              <a:ext uri="{FF2B5EF4-FFF2-40B4-BE49-F238E27FC236}">
                <a16:creationId xmlns:a16="http://schemas.microsoft.com/office/drawing/2014/main" id="{736D1FFC-8FBF-F55C-E289-1FF6783DE651}"/>
              </a:ext>
            </a:extLst>
          </p:cNvPr>
          <p:cNvSpPr txBox="1"/>
          <p:nvPr/>
        </p:nvSpPr>
        <p:spPr>
          <a:xfrm>
            <a:off x="10146792" y="3863760"/>
            <a:ext cx="338328" cy="369332"/>
          </a:xfrm>
          <a:prstGeom prst="rect">
            <a:avLst/>
          </a:prstGeom>
          <a:noFill/>
        </p:spPr>
        <p:txBody>
          <a:bodyPr wrap="square" rtlCol="0">
            <a:spAutoFit/>
          </a:bodyPr>
          <a:lstStyle/>
          <a:p>
            <a:r>
              <a:rPr lang="en-US" dirty="0">
                <a:solidFill>
                  <a:srgbClr val="FF0000"/>
                </a:solidFill>
              </a:rPr>
              <a:t>4</a:t>
            </a:r>
            <a:endParaRPr lang="en-CA" dirty="0">
              <a:solidFill>
                <a:srgbClr val="FF0000"/>
              </a:solidFill>
            </a:endParaRPr>
          </a:p>
        </p:txBody>
      </p:sp>
      <p:sp>
        <p:nvSpPr>
          <p:cNvPr id="11" name="TextBox 10">
            <a:extLst>
              <a:ext uri="{FF2B5EF4-FFF2-40B4-BE49-F238E27FC236}">
                <a16:creationId xmlns:a16="http://schemas.microsoft.com/office/drawing/2014/main" id="{14E18960-335F-B6E6-77DB-469FA5C152B0}"/>
              </a:ext>
            </a:extLst>
          </p:cNvPr>
          <p:cNvSpPr txBox="1"/>
          <p:nvPr/>
        </p:nvSpPr>
        <p:spPr>
          <a:xfrm>
            <a:off x="10146792" y="4108442"/>
            <a:ext cx="338328" cy="369332"/>
          </a:xfrm>
          <a:prstGeom prst="rect">
            <a:avLst/>
          </a:prstGeom>
          <a:noFill/>
        </p:spPr>
        <p:txBody>
          <a:bodyPr wrap="square" rtlCol="0">
            <a:spAutoFit/>
          </a:bodyPr>
          <a:lstStyle/>
          <a:p>
            <a:r>
              <a:rPr lang="en-US" dirty="0">
                <a:solidFill>
                  <a:srgbClr val="FF0000"/>
                </a:solidFill>
              </a:rPr>
              <a:t>5</a:t>
            </a:r>
            <a:endParaRPr lang="en-CA" dirty="0">
              <a:solidFill>
                <a:srgbClr val="FF0000"/>
              </a:solidFill>
            </a:endParaRPr>
          </a:p>
        </p:txBody>
      </p:sp>
    </p:spTree>
    <p:extLst>
      <p:ext uri="{BB962C8B-B14F-4D97-AF65-F5344CB8AC3E}">
        <p14:creationId xmlns:p14="http://schemas.microsoft.com/office/powerpoint/2010/main" val="2763173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FBF24-D2BA-82FC-05F0-FE90E5140CEF}"/>
              </a:ext>
            </a:extLst>
          </p:cNvPr>
          <p:cNvSpPr>
            <a:spLocks noGrp="1"/>
          </p:cNvSpPr>
          <p:nvPr>
            <p:ph type="title"/>
          </p:nvPr>
        </p:nvSpPr>
        <p:spPr/>
        <p:txBody>
          <a:bodyPr/>
          <a:lstStyle/>
          <a:p>
            <a:r>
              <a:rPr lang="en-US" dirty="0"/>
              <a:t>Step 3: Visualization of Images</a:t>
            </a:r>
            <a:endParaRPr lang="en-CA" dirty="0"/>
          </a:p>
        </p:txBody>
      </p:sp>
      <p:sp>
        <p:nvSpPr>
          <p:cNvPr id="3" name="Content Placeholder 2">
            <a:extLst>
              <a:ext uri="{FF2B5EF4-FFF2-40B4-BE49-F238E27FC236}">
                <a16:creationId xmlns:a16="http://schemas.microsoft.com/office/drawing/2014/main" id="{2F9FCE87-2C8A-B81A-1C03-76FEEEC83919}"/>
              </a:ext>
            </a:extLst>
          </p:cNvPr>
          <p:cNvSpPr>
            <a:spLocks noGrp="1"/>
          </p:cNvSpPr>
          <p:nvPr>
            <p:ph idx="1"/>
          </p:nvPr>
        </p:nvSpPr>
        <p:spPr>
          <a:xfrm>
            <a:off x="838200" y="1825625"/>
            <a:ext cx="10515600" cy="579247"/>
          </a:xfrm>
        </p:spPr>
        <p:txBody>
          <a:bodyPr/>
          <a:lstStyle/>
          <a:p>
            <a:r>
              <a:rPr lang="en-US" dirty="0"/>
              <a:t>Adjust “Nuc Bright” and “Cell Bright” to visualize image better</a:t>
            </a:r>
            <a:endParaRPr lang="en-CA" dirty="0"/>
          </a:p>
        </p:txBody>
      </p:sp>
      <p:pic>
        <p:nvPicPr>
          <p:cNvPr id="7" name="Picture 6">
            <a:extLst>
              <a:ext uri="{FF2B5EF4-FFF2-40B4-BE49-F238E27FC236}">
                <a16:creationId xmlns:a16="http://schemas.microsoft.com/office/drawing/2014/main" id="{05A44D9E-8ACE-82F7-891A-841F90ADC7A4}"/>
              </a:ext>
            </a:extLst>
          </p:cNvPr>
          <p:cNvPicPr>
            <a:picLocks noChangeAspect="1"/>
          </p:cNvPicPr>
          <p:nvPr/>
        </p:nvPicPr>
        <p:blipFill>
          <a:blip r:embed="rId2"/>
          <a:stretch>
            <a:fillRect/>
          </a:stretch>
        </p:blipFill>
        <p:spPr>
          <a:xfrm>
            <a:off x="543648" y="2539809"/>
            <a:ext cx="5043336" cy="4053821"/>
          </a:xfrm>
          <a:prstGeom prst="rect">
            <a:avLst/>
          </a:prstGeom>
        </p:spPr>
      </p:pic>
      <p:pic>
        <p:nvPicPr>
          <p:cNvPr id="9" name="Picture 8">
            <a:extLst>
              <a:ext uri="{FF2B5EF4-FFF2-40B4-BE49-F238E27FC236}">
                <a16:creationId xmlns:a16="http://schemas.microsoft.com/office/drawing/2014/main" id="{ADA3C10E-25A6-574D-0EE5-2FE3FD6D31B6}"/>
              </a:ext>
            </a:extLst>
          </p:cNvPr>
          <p:cNvPicPr>
            <a:picLocks noChangeAspect="1"/>
          </p:cNvPicPr>
          <p:nvPr/>
        </p:nvPicPr>
        <p:blipFill>
          <a:blip r:embed="rId3"/>
          <a:stretch>
            <a:fillRect/>
          </a:stretch>
        </p:blipFill>
        <p:spPr>
          <a:xfrm>
            <a:off x="6595872" y="2539809"/>
            <a:ext cx="5043336" cy="4037861"/>
          </a:xfrm>
          <a:prstGeom prst="rect">
            <a:avLst/>
          </a:prstGeom>
        </p:spPr>
      </p:pic>
      <p:sp>
        <p:nvSpPr>
          <p:cNvPr id="10" name="Arrow: Right 9">
            <a:extLst>
              <a:ext uri="{FF2B5EF4-FFF2-40B4-BE49-F238E27FC236}">
                <a16:creationId xmlns:a16="http://schemas.microsoft.com/office/drawing/2014/main" id="{DF2CC21B-07C7-1DE6-ABE5-24A71A9E5C95}"/>
              </a:ext>
            </a:extLst>
          </p:cNvPr>
          <p:cNvSpPr/>
          <p:nvPr/>
        </p:nvSpPr>
        <p:spPr>
          <a:xfrm>
            <a:off x="5711952" y="4453129"/>
            <a:ext cx="768096"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9C0BD39B-05BE-E6F0-ADEE-080DA1DA273B}"/>
              </a:ext>
            </a:extLst>
          </p:cNvPr>
          <p:cNvSpPr/>
          <p:nvPr/>
        </p:nvSpPr>
        <p:spPr>
          <a:xfrm>
            <a:off x="4334256" y="4123944"/>
            <a:ext cx="1344168" cy="48463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Oval 11">
            <a:extLst>
              <a:ext uri="{FF2B5EF4-FFF2-40B4-BE49-F238E27FC236}">
                <a16:creationId xmlns:a16="http://schemas.microsoft.com/office/drawing/2014/main" id="{7D70814F-61D2-9461-460C-B55E3D67BA2A}"/>
              </a:ext>
            </a:extLst>
          </p:cNvPr>
          <p:cNvSpPr/>
          <p:nvPr/>
        </p:nvSpPr>
        <p:spPr>
          <a:xfrm>
            <a:off x="10426104" y="4114800"/>
            <a:ext cx="1344168" cy="48463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3201163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86F3A-DD1F-28D3-D31E-F5E4621828DE}"/>
              </a:ext>
            </a:extLst>
          </p:cNvPr>
          <p:cNvSpPr>
            <a:spLocks noGrp="1"/>
          </p:cNvSpPr>
          <p:nvPr>
            <p:ph type="title"/>
          </p:nvPr>
        </p:nvSpPr>
        <p:spPr/>
        <p:txBody>
          <a:bodyPr/>
          <a:lstStyle/>
          <a:p>
            <a:r>
              <a:rPr lang="en-US" dirty="0"/>
              <a:t>Step 4: Adjust Image Wide Parameters</a:t>
            </a:r>
            <a:endParaRPr lang="en-CA" dirty="0"/>
          </a:p>
        </p:txBody>
      </p:sp>
      <p:sp>
        <p:nvSpPr>
          <p:cNvPr id="3" name="Content Placeholder 2">
            <a:extLst>
              <a:ext uri="{FF2B5EF4-FFF2-40B4-BE49-F238E27FC236}">
                <a16:creationId xmlns:a16="http://schemas.microsoft.com/office/drawing/2014/main" id="{CE58425F-A2EB-AC3D-E3EB-45C07DC5D624}"/>
              </a:ext>
            </a:extLst>
          </p:cNvPr>
          <p:cNvSpPr>
            <a:spLocks noGrp="1"/>
          </p:cNvSpPr>
          <p:nvPr>
            <p:ph idx="1"/>
          </p:nvPr>
        </p:nvSpPr>
        <p:spPr/>
        <p:txBody>
          <a:bodyPr/>
          <a:lstStyle/>
          <a:p>
            <a:pPr marL="514350" indent="-514350">
              <a:buFont typeface="+mj-lt"/>
              <a:buAutoNum type="arabicParenR"/>
            </a:pPr>
            <a:r>
              <a:rPr lang="en-US" dirty="0"/>
              <a:t>“Num Cells” is an indicator of the number of cells detected in the image, not a parameter that can be changed</a:t>
            </a:r>
          </a:p>
          <a:p>
            <a:pPr marL="514350" indent="-514350">
              <a:buFont typeface="+mj-lt"/>
              <a:buAutoNum type="arabicParenR"/>
            </a:pPr>
            <a:r>
              <a:rPr lang="en-US" dirty="0"/>
              <a:t>“Num Levels” dictates the number of level curves used for cell outlining, more level curves makes program more sensitive making larger cell areas</a:t>
            </a:r>
          </a:p>
          <a:p>
            <a:pPr marL="514350" indent="-514350">
              <a:buFont typeface="+mj-lt"/>
              <a:buAutoNum type="arabicParenR"/>
            </a:pPr>
            <a:r>
              <a:rPr lang="en-US" dirty="0"/>
              <a:t>“Edge Minimum” dictates the minimum edge length between vertices in the cell outline, a smaller value will lead to more vertices and allow for more precise adjustment</a:t>
            </a:r>
          </a:p>
          <a:p>
            <a:pPr marL="514350" indent="-514350">
              <a:buFont typeface="+mj-lt"/>
              <a:buAutoNum type="arabicParenR"/>
            </a:pPr>
            <a:r>
              <a:rPr lang="en-US" dirty="0"/>
              <a:t>“Border” dictates the minimum number of pixels away from border a detected nucleus must be to be outlined</a:t>
            </a:r>
          </a:p>
          <a:p>
            <a:pPr marL="514350" indent="-514350">
              <a:buFont typeface="+mj-lt"/>
              <a:buAutoNum type="arabicParenR"/>
            </a:pPr>
            <a:endParaRPr lang="en-US" dirty="0"/>
          </a:p>
          <a:p>
            <a:endParaRPr lang="en-CA" dirty="0"/>
          </a:p>
        </p:txBody>
      </p:sp>
    </p:spTree>
    <p:extLst>
      <p:ext uri="{BB962C8B-B14F-4D97-AF65-F5344CB8AC3E}">
        <p14:creationId xmlns:p14="http://schemas.microsoft.com/office/powerpoint/2010/main" val="134123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E9CC-50F9-132A-C5B7-76A7B605F703}"/>
              </a:ext>
            </a:extLst>
          </p:cNvPr>
          <p:cNvSpPr>
            <a:spLocks noGrp="1"/>
          </p:cNvSpPr>
          <p:nvPr>
            <p:ph type="title"/>
          </p:nvPr>
        </p:nvSpPr>
        <p:spPr/>
        <p:txBody>
          <a:bodyPr/>
          <a:lstStyle/>
          <a:p>
            <a:r>
              <a:rPr lang="en-US" dirty="0"/>
              <a:t>Step 4: Num Levels</a:t>
            </a:r>
            <a:endParaRPr lang="en-CA" dirty="0"/>
          </a:p>
        </p:txBody>
      </p:sp>
      <p:pic>
        <p:nvPicPr>
          <p:cNvPr id="5" name="Picture 4">
            <a:extLst>
              <a:ext uri="{FF2B5EF4-FFF2-40B4-BE49-F238E27FC236}">
                <a16:creationId xmlns:a16="http://schemas.microsoft.com/office/drawing/2014/main" id="{2A40F11D-FE7C-74C3-D7B1-55AEF6DAA978}"/>
              </a:ext>
            </a:extLst>
          </p:cNvPr>
          <p:cNvPicPr>
            <a:picLocks noChangeAspect="1"/>
          </p:cNvPicPr>
          <p:nvPr/>
        </p:nvPicPr>
        <p:blipFill>
          <a:blip r:embed="rId2"/>
          <a:stretch>
            <a:fillRect/>
          </a:stretch>
        </p:blipFill>
        <p:spPr>
          <a:xfrm>
            <a:off x="371567" y="1603952"/>
            <a:ext cx="5306857" cy="4248844"/>
          </a:xfrm>
          <a:prstGeom prst="rect">
            <a:avLst/>
          </a:prstGeom>
        </p:spPr>
      </p:pic>
      <p:pic>
        <p:nvPicPr>
          <p:cNvPr id="7" name="Picture 6">
            <a:extLst>
              <a:ext uri="{FF2B5EF4-FFF2-40B4-BE49-F238E27FC236}">
                <a16:creationId xmlns:a16="http://schemas.microsoft.com/office/drawing/2014/main" id="{A95B094B-7B6B-8270-DC2C-F896221DE0D1}"/>
              </a:ext>
            </a:extLst>
          </p:cNvPr>
          <p:cNvPicPr>
            <a:picLocks noChangeAspect="1"/>
          </p:cNvPicPr>
          <p:nvPr/>
        </p:nvPicPr>
        <p:blipFill>
          <a:blip r:embed="rId3"/>
          <a:stretch>
            <a:fillRect/>
          </a:stretch>
        </p:blipFill>
        <p:spPr>
          <a:xfrm>
            <a:off x="6522720" y="1603952"/>
            <a:ext cx="5306856" cy="4248844"/>
          </a:xfrm>
          <a:prstGeom prst="rect">
            <a:avLst/>
          </a:prstGeom>
        </p:spPr>
      </p:pic>
      <p:sp>
        <p:nvSpPr>
          <p:cNvPr id="8" name="Arrow: Right 7">
            <a:extLst>
              <a:ext uri="{FF2B5EF4-FFF2-40B4-BE49-F238E27FC236}">
                <a16:creationId xmlns:a16="http://schemas.microsoft.com/office/drawing/2014/main" id="{D5241058-2509-C32B-32B5-2286E0DBD1B8}"/>
              </a:ext>
            </a:extLst>
          </p:cNvPr>
          <p:cNvSpPr/>
          <p:nvPr/>
        </p:nvSpPr>
        <p:spPr>
          <a:xfrm>
            <a:off x="5804916" y="3602289"/>
            <a:ext cx="582168"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17">
            <a:extLst>
              <a:ext uri="{FF2B5EF4-FFF2-40B4-BE49-F238E27FC236}">
                <a16:creationId xmlns:a16="http://schemas.microsoft.com/office/drawing/2014/main" id="{64ADA365-5B75-C2F9-DB93-B68B5687C556}"/>
              </a:ext>
            </a:extLst>
          </p:cNvPr>
          <p:cNvSpPr txBox="1"/>
          <p:nvPr/>
        </p:nvSpPr>
        <p:spPr>
          <a:xfrm>
            <a:off x="1722496" y="6013627"/>
            <a:ext cx="8747007"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dirty="0"/>
              <a:t>More level curves means the segmentation will pick up lower intensity areas of cells</a:t>
            </a:r>
          </a:p>
          <a:p>
            <a:pPr marL="285750" indent="-285750">
              <a:buFont typeface="Arial"/>
              <a:buChar char="•"/>
            </a:pPr>
            <a:r>
              <a:rPr lang="en-US" dirty="0"/>
              <a:t>Fewer level curves means the segmentation will pick up less background</a:t>
            </a:r>
          </a:p>
        </p:txBody>
      </p:sp>
      <p:sp>
        <p:nvSpPr>
          <p:cNvPr id="10" name="Oval 9">
            <a:extLst>
              <a:ext uri="{FF2B5EF4-FFF2-40B4-BE49-F238E27FC236}">
                <a16:creationId xmlns:a16="http://schemas.microsoft.com/office/drawing/2014/main" id="{D7F37975-A48F-515D-83A8-F7297154DB68}"/>
              </a:ext>
            </a:extLst>
          </p:cNvPr>
          <p:cNvSpPr/>
          <p:nvPr/>
        </p:nvSpPr>
        <p:spPr>
          <a:xfrm>
            <a:off x="4361008" y="2616355"/>
            <a:ext cx="1371518"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8CADEEBA-FD20-1ACF-2389-AF30323B05A0}"/>
              </a:ext>
            </a:extLst>
          </p:cNvPr>
          <p:cNvSpPr/>
          <p:nvPr/>
        </p:nvSpPr>
        <p:spPr>
          <a:xfrm>
            <a:off x="4297763" y="4164813"/>
            <a:ext cx="1371518"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C8A7B05D-E2D7-74EA-B97A-F0F60C24F6F4}"/>
              </a:ext>
            </a:extLst>
          </p:cNvPr>
          <p:cNvSpPr/>
          <p:nvPr/>
        </p:nvSpPr>
        <p:spPr>
          <a:xfrm>
            <a:off x="10521305" y="2616355"/>
            <a:ext cx="1371518"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156750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68EFE-3178-A46F-FFF7-AC172C7A3F2F}"/>
              </a:ext>
            </a:extLst>
          </p:cNvPr>
          <p:cNvSpPr>
            <a:spLocks noGrp="1"/>
          </p:cNvSpPr>
          <p:nvPr>
            <p:ph type="title"/>
          </p:nvPr>
        </p:nvSpPr>
        <p:spPr/>
        <p:txBody>
          <a:bodyPr/>
          <a:lstStyle/>
          <a:p>
            <a:r>
              <a:rPr lang="en-US" dirty="0"/>
              <a:t>Step 4: Edge Minimum</a:t>
            </a:r>
            <a:endParaRPr lang="en-CA" dirty="0"/>
          </a:p>
        </p:txBody>
      </p:sp>
      <p:pic>
        <p:nvPicPr>
          <p:cNvPr id="4" name="Picture 3">
            <a:extLst>
              <a:ext uri="{FF2B5EF4-FFF2-40B4-BE49-F238E27FC236}">
                <a16:creationId xmlns:a16="http://schemas.microsoft.com/office/drawing/2014/main" id="{89B0E950-E04B-3DC9-63B2-9FC3271DE9FA}"/>
              </a:ext>
            </a:extLst>
          </p:cNvPr>
          <p:cNvPicPr>
            <a:picLocks noChangeAspect="1"/>
          </p:cNvPicPr>
          <p:nvPr/>
        </p:nvPicPr>
        <p:blipFill>
          <a:blip r:embed="rId2"/>
          <a:stretch>
            <a:fillRect/>
          </a:stretch>
        </p:blipFill>
        <p:spPr>
          <a:xfrm>
            <a:off x="358107" y="2043059"/>
            <a:ext cx="5416181" cy="4293832"/>
          </a:xfrm>
          <a:prstGeom prst="rect">
            <a:avLst/>
          </a:prstGeom>
        </p:spPr>
      </p:pic>
      <p:pic>
        <p:nvPicPr>
          <p:cNvPr id="6" name="Picture 5">
            <a:extLst>
              <a:ext uri="{FF2B5EF4-FFF2-40B4-BE49-F238E27FC236}">
                <a16:creationId xmlns:a16="http://schemas.microsoft.com/office/drawing/2014/main" id="{6CA513AA-EAC8-2176-DE13-3922CCC631BB}"/>
              </a:ext>
            </a:extLst>
          </p:cNvPr>
          <p:cNvPicPr>
            <a:picLocks noChangeAspect="1"/>
          </p:cNvPicPr>
          <p:nvPr/>
        </p:nvPicPr>
        <p:blipFill>
          <a:blip r:embed="rId3"/>
          <a:stretch>
            <a:fillRect/>
          </a:stretch>
        </p:blipFill>
        <p:spPr>
          <a:xfrm>
            <a:off x="6417712" y="2043059"/>
            <a:ext cx="5416181" cy="4293832"/>
          </a:xfrm>
          <a:prstGeom prst="rect">
            <a:avLst/>
          </a:prstGeom>
        </p:spPr>
      </p:pic>
      <p:sp>
        <p:nvSpPr>
          <p:cNvPr id="7" name="Arrow: Right 6">
            <a:extLst>
              <a:ext uri="{FF2B5EF4-FFF2-40B4-BE49-F238E27FC236}">
                <a16:creationId xmlns:a16="http://schemas.microsoft.com/office/drawing/2014/main" id="{92424567-1E60-A38B-831F-EBA93757EEDF}"/>
              </a:ext>
            </a:extLst>
          </p:cNvPr>
          <p:cNvSpPr/>
          <p:nvPr/>
        </p:nvSpPr>
        <p:spPr>
          <a:xfrm>
            <a:off x="5875782" y="4063890"/>
            <a:ext cx="440436"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Oval 7">
            <a:extLst>
              <a:ext uri="{FF2B5EF4-FFF2-40B4-BE49-F238E27FC236}">
                <a16:creationId xmlns:a16="http://schemas.microsoft.com/office/drawing/2014/main" id="{6EB10CC5-5741-6CC4-E618-4772B1C7F179}"/>
              </a:ext>
            </a:extLst>
          </p:cNvPr>
          <p:cNvSpPr/>
          <p:nvPr/>
        </p:nvSpPr>
        <p:spPr>
          <a:xfrm>
            <a:off x="4334256" y="3307762"/>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A8E6C396-93F4-436B-7913-D07E570E29D7}"/>
              </a:ext>
            </a:extLst>
          </p:cNvPr>
          <p:cNvSpPr/>
          <p:nvPr/>
        </p:nvSpPr>
        <p:spPr>
          <a:xfrm>
            <a:off x="10403005" y="3289473"/>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69508C77-A469-7706-B701-D99723F23C8B}"/>
              </a:ext>
            </a:extLst>
          </p:cNvPr>
          <p:cNvSpPr/>
          <p:nvPr/>
        </p:nvSpPr>
        <p:spPr>
          <a:xfrm>
            <a:off x="4368513" y="4643859"/>
            <a:ext cx="1371518"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Arrow: Right 10">
            <a:extLst>
              <a:ext uri="{FF2B5EF4-FFF2-40B4-BE49-F238E27FC236}">
                <a16:creationId xmlns:a16="http://schemas.microsoft.com/office/drawing/2014/main" id="{04816C66-DABA-EFAF-7D79-F592479BA029}"/>
              </a:ext>
            </a:extLst>
          </p:cNvPr>
          <p:cNvSpPr/>
          <p:nvPr/>
        </p:nvSpPr>
        <p:spPr>
          <a:xfrm rot="8803474">
            <a:off x="3435818" y="3265635"/>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269306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CFBE2-BBEE-8AD6-7A5A-349D4B883575}"/>
              </a:ext>
            </a:extLst>
          </p:cNvPr>
          <p:cNvSpPr>
            <a:spLocks noGrp="1"/>
          </p:cNvSpPr>
          <p:nvPr>
            <p:ph type="title"/>
          </p:nvPr>
        </p:nvSpPr>
        <p:spPr/>
        <p:txBody>
          <a:bodyPr/>
          <a:lstStyle/>
          <a:p>
            <a:r>
              <a:rPr lang="en-US" dirty="0"/>
              <a:t>Step 4: Border</a:t>
            </a:r>
            <a:endParaRPr lang="en-CA" dirty="0"/>
          </a:p>
        </p:txBody>
      </p:sp>
      <p:pic>
        <p:nvPicPr>
          <p:cNvPr id="5" name="Picture 4">
            <a:extLst>
              <a:ext uri="{FF2B5EF4-FFF2-40B4-BE49-F238E27FC236}">
                <a16:creationId xmlns:a16="http://schemas.microsoft.com/office/drawing/2014/main" id="{D7C0D742-BA19-A2A7-77CD-270A42FA1384}"/>
              </a:ext>
            </a:extLst>
          </p:cNvPr>
          <p:cNvPicPr>
            <a:picLocks noChangeAspect="1"/>
          </p:cNvPicPr>
          <p:nvPr/>
        </p:nvPicPr>
        <p:blipFill>
          <a:blip r:embed="rId2"/>
          <a:stretch>
            <a:fillRect/>
          </a:stretch>
        </p:blipFill>
        <p:spPr>
          <a:xfrm>
            <a:off x="417205" y="1952704"/>
            <a:ext cx="5207546" cy="4174302"/>
          </a:xfrm>
          <a:prstGeom prst="rect">
            <a:avLst/>
          </a:prstGeom>
        </p:spPr>
      </p:pic>
      <p:pic>
        <p:nvPicPr>
          <p:cNvPr id="7" name="Picture 6">
            <a:extLst>
              <a:ext uri="{FF2B5EF4-FFF2-40B4-BE49-F238E27FC236}">
                <a16:creationId xmlns:a16="http://schemas.microsoft.com/office/drawing/2014/main" id="{5B9DFBDF-F37B-A502-9617-45F92BA97BC4}"/>
              </a:ext>
            </a:extLst>
          </p:cNvPr>
          <p:cNvPicPr>
            <a:picLocks noChangeAspect="1"/>
          </p:cNvPicPr>
          <p:nvPr/>
        </p:nvPicPr>
        <p:blipFill>
          <a:blip r:embed="rId3"/>
          <a:stretch>
            <a:fillRect/>
          </a:stretch>
        </p:blipFill>
        <p:spPr>
          <a:xfrm>
            <a:off x="6462895" y="1952704"/>
            <a:ext cx="5297795" cy="4256707"/>
          </a:xfrm>
          <a:prstGeom prst="rect">
            <a:avLst/>
          </a:prstGeom>
        </p:spPr>
      </p:pic>
      <p:sp>
        <p:nvSpPr>
          <p:cNvPr id="8" name="Arrow: Right 7">
            <a:extLst>
              <a:ext uri="{FF2B5EF4-FFF2-40B4-BE49-F238E27FC236}">
                <a16:creationId xmlns:a16="http://schemas.microsoft.com/office/drawing/2014/main" id="{3C58F747-8491-E83A-0194-84C072DF548C}"/>
              </a:ext>
            </a:extLst>
          </p:cNvPr>
          <p:cNvSpPr/>
          <p:nvPr/>
        </p:nvSpPr>
        <p:spPr>
          <a:xfrm>
            <a:off x="5823605" y="3913770"/>
            <a:ext cx="440436"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Right 8">
            <a:extLst>
              <a:ext uri="{FF2B5EF4-FFF2-40B4-BE49-F238E27FC236}">
                <a16:creationId xmlns:a16="http://schemas.microsoft.com/office/drawing/2014/main" id="{9C8F05C3-23B0-5CF8-CFE3-181ED47209CC}"/>
              </a:ext>
            </a:extLst>
          </p:cNvPr>
          <p:cNvSpPr/>
          <p:nvPr/>
        </p:nvSpPr>
        <p:spPr>
          <a:xfrm rot="8803474">
            <a:off x="1062590" y="4625729"/>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Arrow: Right 9">
            <a:extLst>
              <a:ext uri="{FF2B5EF4-FFF2-40B4-BE49-F238E27FC236}">
                <a16:creationId xmlns:a16="http://schemas.microsoft.com/office/drawing/2014/main" id="{29961B4C-D0C8-8D27-0396-C7D30D973387}"/>
              </a:ext>
            </a:extLst>
          </p:cNvPr>
          <p:cNvSpPr/>
          <p:nvPr/>
        </p:nvSpPr>
        <p:spPr>
          <a:xfrm rot="8803474">
            <a:off x="7088486" y="4719856"/>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AC03531C-CE3F-9F20-598C-A7B2CAE4ADF4}"/>
              </a:ext>
            </a:extLst>
          </p:cNvPr>
          <p:cNvSpPr/>
          <p:nvPr/>
        </p:nvSpPr>
        <p:spPr>
          <a:xfrm>
            <a:off x="4517136" y="3401568"/>
            <a:ext cx="120704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73A2EF59-DF08-022C-F54E-BC40A5A042D8}"/>
              </a:ext>
            </a:extLst>
          </p:cNvPr>
          <p:cNvSpPr/>
          <p:nvPr/>
        </p:nvSpPr>
        <p:spPr>
          <a:xfrm>
            <a:off x="10594062" y="3429000"/>
            <a:ext cx="120704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29551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352FB-77AA-F543-FAC3-D10056439469}"/>
              </a:ext>
            </a:extLst>
          </p:cNvPr>
          <p:cNvSpPr>
            <a:spLocks noGrp="1"/>
          </p:cNvSpPr>
          <p:nvPr>
            <p:ph type="title"/>
          </p:nvPr>
        </p:nvSpPr>
        <p:spPr/>
        <p:txBody>
          <a:bodyPr/>
          <a:lstStyle/>
          <a:p>
            <a:r>
              <a:rPr lang="en-US" dirty="0"/>
              <a:t>Step 5: Manual Adjustments</a:t>
            </a:r>
            <a:endParaRPr lang="en-CA" dirty="0"/>
          </a:p>
        </p:txBody>
      </p:sp>
      <p:sp>
        <p:nvSpPr>
          <p:cNvPr id="3" name="Content Placeholder 2">
            <a:extLst>
              <a:ext uri="{FF2B5EF4-FFF2-40B4-BE49-F238E27FC236}">
                <a16:creationId xmlns:a16="http://schemas.microsoft.com/office/drawing/2014/main" id="{943FD14B-ECCD-BA97-533E-B11FF6769A13}"/>
              </a:ext>
            </a:extLst>
          </p:cNvPr>
          <p:cNvSpPr>
            <a:spLocks noGrp="1"/>
          </p:cNvSpPr>
          <p:nvPr>
            <p:ph idx="1"/>
          </p:nvPr>
        </p:nvSpPr>
        <p:spPr/>
        <p:txBody>
          <a:bodyPr/>
          <a:lstStyle/>
          <a:p>
            <a:pPr marL="514350" indent="-514350">
              <a:buFont typeface="+mj-lt"/>
              <a:buAutoNum type="arabicParenR"/>
            </a:pPr>
            <a:r>
              <a:rPr lang="en-US" dirty="0"/>
              <a:t>Delete existing cell and nucleus outlines that you do not want to include by pressing on them to select (turning them red) then pressing “Delete Selected”. Multiple cells can be selected at once. Alternatively select only the cells and nuclei you want to keep and press “Delete Unselected”</a:t>
            </a:r>
          </a:p>
          <a:p>
            <a:pPr marL="514350" indent="-514350">
              <a:buFont typeface="+mj-lt"/>
              <a:buAutoNum type="arabicParenR"/>
            </a:pPr>
            <a:r>
              <a:rPr lang="en-US" dirty="0"/>
              <a:t>Fix outlines by dragging vertices into place</a:t>
            </a:r>
          </a:p>
          <a:p>
            <a:pPr marL="514350" indent="-514350">
              <a:buFont typeface="+mj-lt"/>
              <a:buAutoNum type="arabicParenR"/>
            </a:pPr>
            <a:r>
              <a:rPr lang="en-US" dirty="0"/>
              <a:t>Draw new nucleus and cell outlines</a:t>
            </a:r>
          </a:p>
          <a:p>
            <a:pPr marL="0" indent="0">
              <a:buNone/>
            </a:pPr>
            <a:r>
              <a:rPr lang="en-US" dirty="0"/>
              <a:t>Note: in the end the number of nucleus and cell outlines should be equal, nucleus outlines are fully contained within cell outlines, and there is no overlap between cell outlines</a:t>
            </a:r>
            <a:endParaRPr lang="en-CA" dirty="0"/>
          </a:p>
        </p:txBody>
      </p:sp>
    </p:spTree>
    <p:extLst>
      <p:ext uri="{BB962C8B-B14F-4D97-AF65-F5344CB8AC3E}">
        <p14:creationId xmlns:p14="http://schemas.microsoft.com/office/powerpoint/2010/main" val="364142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6546D-910A-F8C7-5D74-0FD7F32A625F}"/>
              </a:ext>
            </a:extLst>
          </p:cNvPr>
          <p:cNvSpPr>
            <a:spLocks noGrp="1"/>
          </p:cNvSpPr>
          <p:nvPr>
            <p:ph type="title"/>
          </p:nvPr>
        </p:nvSpPr>
        <p:spPr/>
        <p:txBody>
          <a:bodyPr/>
          <a:lstStyle/>
          <a:p>
            <a:r>
              <a:rPr lang="en-US" dirty="0"/>
              <a:t>Step 5: Deleting Selected Cells</a:t>
            </a:r>
            <a:endParaRPr lang="en-CA" dirty="0"/>
          </a:p>
        </p:txBody>
      </p:sp>
      <p:sp>
        <p:nvSpPr>
          <p:cNvPr id="9" name="Arrow: Right 8">
            <a:extLst>
              <a:ext uri="{FF2B5EF4-FFF2-40B4-BE49-F238E27FC236}">
                <a16:creationId xmlns:a16="http://schemas.microsoft.com/office/drawing/2014/main" id="{7DA644F9-D8EC-76C3-AB3D-6797EA0158CA}"/>
              </a:ext>
            </a:extLst>
          </p:cNvPr>
          <p:cNvSpPr/>
          <p:nvPr/>
        </p:nvSpPr>
        <p:spPr>
          <a:xfrm>
            <a:off x="5914997" y="4020223"/>
            <a:ext cx="511301"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4" name="Picture 3">
            <a:extLst>
              <a:ext uri="{FF2B5EF4-FFF2-40B4-BE49-F238E27FC236}">
                <a16:creationId xmlns:a16="http://schemas.microsoft.com/office/drawing/2014/main" id="{3DB4A500-CAD1-F394-7CCF-D2356D321E3A}"/>
              </a:ext>
            </a:extLst>
          </p:cNvPr>
          <p:cNvPicPr>
            <a:picLocks noChangeAspect="1"/>
          </p:cNvPicPr>
          <p:nvPr/>
        </p:nvPicPr>
        <p:blipFill>
          <a:blip r:embed="rId2"/>
          <a:stretch>
            <a:fillRect/>
          </a:stretch>
        </p:blipFill>
        <p:spPr>
          <a:xfrm>
            <a:off x="356005" y="2041976"/>
            <a:ext cx="5380181" cy="4208664"/>
          </a:xfrm>
          <a:prstGeom prst="rect">
            <a:avLst/>
          </a:prstGeom>
        </p:spPr>
      </p:pic>
      <p:sp>
        <p:nvSpPr>
          <p:cNvPr id="7" name="Oval 6">
            <a:extLst>
              <a:ext uri="{FF2B5EF4-FFF2-40B4-BE49-F238E27FC236}">
                <a16:creationId xmlns:a16="http://schemas.microsoft.com/office/drawing/2014/main" id="{57F8976E-9170-6DD8-E5CE-99863D6F4709}"/>
              </a:ext>
            </a:extLst>
          </p:cNvPr>
          <p:cNvSpPr/>
          <p:nvPr/>
        </p:nvSpPr>
        <p:spPr>
          <a:xfrm>
            <a:off x="4314816" y="5081714"/>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Arrow: Right 12">
            <a:extLst>
              <a:ext uri="{FF2B5EF4-FFF2-40B4-BE49-F238E27FC236}">
                <a16:creationId xmlns:a16="http://schemas.microsoft.com/office/drawing/2014/main" id="{3289103F-AB1E-1286-528D-1476307AC4AE}"/>
              </a:ext>
            </a:extLst>
          </p:cNvPr>
          <p:cNvSpPr/>
          <p:nvPr/>
        </p:nvSpPr>
        <p:spPr>
          <a:xfrm rot="7896290">
            <a:off x="3338603" y="5052286"/>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5" name="Picture 14">
            <a:extLst>
              <a:ext uri="{FF2B5EF4-FFF2-40B4-BE49-F238E27FC236}">
                <a16:creationId xmlns:a16="http://schemas.microsoft.com/office/drawing/2014/main" id="{3EF10FE6-D6E0-6C9D-9959-207993311D4A}"/>
              </a:ext>
            </a:extLst>
          </p:cNvPr>
          <p:cNvPicPr>
            <a:picLocks noChangeAspect="1"/>
          </p:cNvPicPr>
          <p:nvPr/>
        </p:nvPicPr>
        <p:blipFill>
          <a:blip r:embed="rId3"/>
          <a:stretch>
            <a:fillRect/>
          </a:stretch>
        </p:blipFill>
        <p:spPr>
          <a:xfrm>
            <a:off x="6586763" y="2041976"/>
            <a:ext cx="5256671" cy="4208664"/>
          </a:xfrm>
          <a:prstGeom prst="rect">
            <a:avLst/>
          </a:prstGeom>
        </p:spPr>
      </p:pic>
    </p:spTree>
    <p:extLst>
      <p:ext uri="{BB962C8B-B14F-4D97-AF65-F5344CB8AC3E}">
        <p14:creationId xmlns:p14="http://schemas.microsoft.com/office/powerpoint/2010/main" val="62157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ECFD3-C426-646D-DA18-4B7D40782603}"/>
              </a:ext>
            </a:extLst>
          </p:cNvPr>
          <p:cNvSpPr>
            <a:spLocks noGrp="1"/>
          </p:cNvSpPr>
          <p:nvPr>
            <p:ph type="title"/>
          </p:nvPr>
        </p:nvSpPr>
        <p:spPr/>
        <p:txBody>
          <a:bodyPr/>
          <a:lstStyle/>
          <a:p>
            <a:r>
              <a:rPr lang="en-US" dirty="0"/>
              <a:t>Step 5: Deleting Unselected Cells</a:t>
            </a:r>
            <a:endParaRPr lang="en-CA" dirty="0"/>
          </a:p>
        </p:txBody>
      </p:sp>
      <p:pic>
        <p:nvPicPr>
          <p:cNvPr id="5" name="Picture 4">
            <a:extLst>
              <a:ext uri="{FF2B5EF4-FFF2-40B4-BE49-F238E27FC236}">
                <a16:creationId xmlns:a16="http://schemas.microsoft.com/office/drawing/2014/main" id="{82443686-498B-1A09-D6A5-243A99417F94}"/>
              </a:ext>
            </a:extLst>
          </p:cNvPr>
          <p:cNvPicPr>
            <a:picLocks noChangeAspect="1"/>
          </p:cNvPicPr>
          <p:nvPr/>
        </p:nvPicPr>
        <p:blipFill>
          <a:blip r:embed="rId2"/>
          <a:stretch>
            <a:fillRect/>
          </a:stretch>
        </p:blipFill>
        <p:spPr>
          <a:xfrm>
            <a:off x="350859" y="1990971"/>
            <a:ext cx="5336709" cy="4245872"/>
          </a:xfrm>
          <a:prstGeom prst="rect">
            <a:avLst/>
          </a:prstGeom>
        </p:spPr>
      </p:pic>
      <p:sp>
        <p:nvSpPr>
          <p:cNvPr id="6" name="Arrow: Right 5">
            <a:extLst>
              <a:ext uri="{FF2B5EF4-FFF2-40B4-BE49-F238E27FC236}">
                <a16:creationId xmlns:a16="http://schemas.microsoft.com/office/drawing/2014/main" id="{56A51BBF-D105-4051-6E2B-E2241960DD25}"/>
              </a:ext>
            </a:extLst>
          </p:cNvPr>
          <p:cNvSpPr/>
          <p:nvPr/>
        </p:nvSpPr>
        <p:spPr>
          <a:xfrm>
            <a:off x="5857085" y="3987822"/>
            <a:ext cx="511301"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Arrow: Right 6">
            <a:extLst>
              <a:ext uri="{FF2B5EF4-FFF2-40B4-BE49-F238E27FC236}">
                <a16:creationId xmlns:a16="http://schemas.microsoft.com/office/drawing/2014/main" id="{D4CE8E87-C0C4-7F25-0667-4D520767B146}"/>
              </a:ext>
            </a:extLst>
          </p:cNvPr>
          <p:cNvSpPr/>
          <p:nvPr/>
        </p:nvSpPr>
        <p:spPr>
          <a:xfrm rot="8669234">
            <a:off x="2934353" y="3499322"/>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Oval 7">
            <a:extLst>
              <a:ext uri="{FF2B5EF4-FFF2-40B4-BE49-F238E27FC236}">
                <a16:creationId xmlns:a16="http://schemas.microsoft.com/office/drawing/2014/main" id="{60044E02-7052-2ED1-ECAA-0A9CD577B170}"/>
              </a:ext>
            </a:extLst>
          </p:cNvPr>
          <p:cNvSpPr/>
          <p:nvPr/>
        </p:nvSpPr>
        <p:spPr>
          <a:xfrm>
            <a:off x="4238392" y="5262772"/>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0" name="Picture 9">
            <a:extLst>
              <a:ext uri="{FF2B5EF4-FFF2-40B4-BE49-F238E27FC236}">
                <a16:creationId xmlns:a16="http://schemas.microsoft.com/office/drawing/2014/main" id="{7E485F96-3033-4CE7-FB86-BDD86C4615ED}"/>
              </a:ext>
            </a:extLst>
          </p:cNvPr>
          <p:cNvPicPr>
            <a:picLocks noChangeAspect="1"/>
          </p:cNvPicPr>
          <p:nvPr/>
        </p:nvPicPr>
        <p:blipFill>
          <a:blip r:embed="rId3"/>
          <a:stretch>
            <a:fillRect/>
          </a:stretch>
        </p:blipFill>
        <p:spPr>
          <a:xfrm>
            <a:off x="6504434" y="1990971"/>
            <a:ext cx="5311536" cy="4245872"/>
          </a:xfrm>
          <a:prstGeom prst="rect">
            <a:avLst/>
          </a:prstGeom>
        </p:spPr>
      </p:pic>
    </p:spTree>
    <p:extLst>
      <p:ext uri="{BB962C8B-B14F-4D97-AF65-F5344CB8AC3E}">
        <p14:creationId xmlns:p14="http://schemas.microsoft.com/office/powerpoint/2010/main" val="814280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3383-1A18-9FB3-E938-831E3DF4F883}"/>
              </a:ext>
            </a:extLst>
          </p:cNvPr>
          <p:cNvSpPr>
            <a:spLocks noGrp="1"/>
          </p:cNvSpPr>
          <p:nvPr>
            <p:ph type="title"/>
          </p:nvPr>
        </p:nvSpPr>
        <p:spPr/>
        <p:txBody>
          <a:bodyPr/>
          <a:lstStyle/>
          <a:p>
            <a:r>
              <a:rPr lang="en-US" dirty="0"/>
              <a:t>Step 5: Adjust Vertices</a:t>
            </a:r>
            <a:endParaRPr lang="en-CA" dirty="0"/>
          </a:p>
        </p:txBody>
      </p:sp>
      <p:pic>
        <p:nvPicPr>
          <p:cNvPr id="5" name="Picture 4">
            <a:extLst>
              <a:ext uri="{FF2B5EF4-FFF2-40B4-BE49-F238E27FC236}">
                <a16:creationId xmlns:a16="http://schemas.microsoft.com/office/drawing/2014/main" id="{71F3E9EC-071C-F35E-1D45-4ADA76E50AD5}"/>
              </a:ext>
            </a:extLst>
          </p:cNvPr>
          <p:cNvPicPr>
            <a:picLocks noChangeAspect="1"/>
          </p:cNvPicPr>
          <p:nvPr/>
        </p:nvPicPr>
        <p:blipFill>
          <a:blip r:embed="rId2"/>
          <a:stretch>
            <a:fillRect/>
          </a:stretch>
        </p:blipFill>
        <p:spPr>
          <a:xfrm>
            <a:off x="6468196" y="1987636"/>
            <a:ext cx="5221850" cy="4170911"/>
          </a:xfrm>
          <a:prstGeom prst="rect">
            <a:avLst/>
          </a:prstGeom>
        </p:spPr>
      </p:pic>
      <p:pic>
        <p:nvPicPr>
          <p:cNvPr id="7" name="Picture 6">
            <a:extLst>
              <a:ext uri="{FF2B5EF4-FFF2-40B4-BE49-F238E27FC236}">
                <a16:creationId xmlns:a16="http://schemas.microsoft.com/office/drawing/2014/main" id="{FB067BCE-9B93-DF3A-963E-72523DDA5DB9}"/>
              </a:ext>
            </a:extLst>
          </p:cNvPr>
          <p:cNvPicPr>
            <a:picLocks noChangeAspect="1"/>
          </p:cNvPicPr>
          <p:nvPr/>
        </p:nvPicPr>
        <p:blipFill>
          <a:blip r:embed="rId3"/>
          <a:stretch>
            <a:fillRect/>
          </a:stretch>
        </p:blipFill>
        <p:spPr>
          <a:xfrm>
            <a:off x="456234" y="1987636"/>
            <a:ext cx="5221756" cy="4167522"/>
          </a:xfrm>
          <a:prstGeom prst="rect">
            <a:avLst/>
          </a:prstGeom>
        </p:spPr>
      </p:pic>
      <p:sp>
        <p:nvSpPr>
          <p:cNvPr id="8" name="Arrow: Right 7">
            <a:extLst>
              <a:ext uri="{FF2B5EF4-FFF2-40B4-BE49-F238E27FC236}">
                <a16:creationId xmlns:a16="http://schemas.microsoft.com/office/drawing/2014/main" id="{B8B5799A-86E2-B814-A193-12AC074980B8}"/>
              </a:ext>
            </a:extLst>
          </p:cNvPr>
          <p:cNvSpPr/>
          <p:nvPr/>
        </p:nvSpPr>
        <p:spPr>
          <a:xfrm>
            <a:off x="5838119" y="3945312"/>
            <a:ext cx="511301"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Right 8">
            <a:extLst>
              <a:ext uri="{FF2B5EF4-FFF2-40B4-BE49-F238E27FC236}">
                <a16:creationId xmlns:a16="http://schemas.microsoft.com/office/drawing/2014/main" id="{F6F2387B-58B3-AA9C-2C81-09622D1A074A}"/>
              </a:ext>
            </a:extLst>
          </p:cNvPr>
          <p:cNvSpPr/>
          <p:nvPr/>
        </p:nvSpPr>
        <p:spPr>
          <a:xfrm rot="8803474">
            <a:off x="3460567" y="3153543"/>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Arrow: Right 9">
            <a:extLst>
              <a:ext uri="{FF2B5EF4-FFF2-40B4-BE49-F238E27FC236}">
                <a16:creationId xmlns:a16="http://schemas.microsoft.com/office/drawing/2014/main" id="{071E25FA-6104-33D4-CCB9-DB581617493C}"/>
              </a:ext>
            </a:extLst>
          </p:cNvPr>
          <p:cNvSpPr/>
          <p:nvPr/>
        </p:nvSpPr>
        <p:spPr>
          <a:xfrm rot="8803474">
            <a:off x="9446839" y="3269683"/>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224707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A40D9-ADAE-E7D1-65DA-A9EE682B0AF0}"/>
              </a:ext>
            </a:extLst>
          </p:cNvPr>
          <p:cNvSpPr>
            <a:spLocks noGrp="1"/>
          </p:cNvSpPr>
          <p:nvPr>
            <p:ph type="title"/>
          </p:nvPr>
        </p:nvSpPr>
        <p:spPr/>
        <p:txBody>
          <a:bodyPr/>
          <a:lstStyle/>
          <a:p>
            <a:r>
              <a:rPr lang="en-US" dirty="0"/>
              <a:t>Step 5: Draw Nucleus</a:t>
            </a:r>
            <a:endParaRPr lang="en-CA" dirty="0"/>
          </a:p>
        </p:txBody>
      </p:sp>
      <p:pic>
        <p:nvPicPr>
          <p:cNvPr id="5" name="Picture 4">
            <a:extLst>
              <a:ext uri="{FF2B5EF4-FFF2-40B4-BE49-F238E27FC236}">
                <a16:creationId xmlns:a16="http://schemas.microsoft.com/office/drawing/2014/main" id="{55B98D32-8E78-730E-4EEC-0A0274B65F8E}"/>
              </a:ext>
            </a:extLst>
          </p:cNvPr>
          <p:cNvPicPr>
            <a:picLocks noChangeAspect="1"/>
          </p:cNvPicPr>
          <p:nvPr/>
        </p:nvPicPr>
        <p:blipFill>
          <a:blip r:embed="rId2"/>
          <a:stretch>
            <a:fillRect/>
          </a:stretch>
        </p:blipFill>
        <p:spPr>
          <a:xfrm>
            <a:off x="432015" y="1606662"/>
            <a:ext cx="5209833" cy="4162920"/>
          </a:xfrm>
          <a:prstGeom prst="rect">
            <a:avLst/>
          </a:prstGeom>
        </p:spPr>
      </p:pic>
      <p:pic>
        <p:nvPicPr>
          <p:cNvPr id="7" name="Picture 6">
            <a:extLst>
              <a:ext uri="{FF2B5EF4-FFF2-40B4-BE49-F238E27FC236}">
                <a16:creationId xmlns:a16="http://schemas.microsoft.com/office/drawing/2014/main" id="{1B92DF93-57B0-BDFE-FD7C-891F7A259AF6}"/>
              </a:ext>
            </a:extLst>
          </p:cNvPr>
          <p:cNvPicPr>
            <a:picLocks noChangeAspect="1"/>
          </p:cNvPicPr>
          <p:nvPr/>
        </p:nvPicPr>
        <p:blipFill>
          <a:blip r:embed="rId3"/>
          <a:stretch>
            <a:fillRect/>
          </a:stretch>
        </p:blipFill>
        <p:spPr>
          <a:xfrm>
            <a:off x="6475784" y="1606661"/>
            <a:ext cx="5220171" cy="4162921"/>
          </a:xfrm>
          <a:prstGeom prst="rect">
            <a:avLst/>
          </a:prstGeom>
        </p:spPr>
      </p:pic>
      <p:sp>
        <p:nvSpPr>
          <p:cNvPr id="8" name="Arrow: Right 7">
            <a:extLst>
              <a:ext uri="{FF2B5EF4-FFF2-40B4-BE49-F238E27FC236}">
                <a16:creationId xmlns:a16="http://schemas.microsoft.com/office/drawing/2014/main" id="{5ADA17BB-84DC-9635-A839-E9D6467A350E}"/>
              </a:ext>
            </a:extLst>
          </p:cNvPr>
          <p:cNvSpPr/>
          <p:nvPr/>
        </p:nvSpPr>
        <p:spPr>
          <a:xfrm>
            <a:off x="5812917" y="3561264"/>
            <a:ext cx="511301"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53CA76D6-7871-B463-B1D6-E8CCC20F7B02}"/>
              </a:ext>
            </a:extLst>
          </p:cNvPr>
          <p:cNvSpPr/>
          <p:nvPr/>
        </p:nvSpPr>
        <p:spPr>
          <a:xfrm>
            <a:off x="4239953" y="4350178"/>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Arrow: Right 9">
            <a:extLst>
              <a:ext uri="{FF2B5EF4-FFF2-40B4-BE49-F238E27FC236}">
                <a16:creationId xmlns:a16="http://schemas.microsoft.com/office/drawing/2014/main" id="{B6FDEE2D-7F57-44DA-3A37-4815EA54C8A5}"/>
              </a:ext>
            </a:extLst>
          </p:cNvPr>
          <p:cNvSpPr/>
          <p:nvPr/>
        </p:nvSpPr>
        <p:spPr>
          <a:xfrm rot="8803474">
            <a:off x="3266294" y="4186816"/>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Arrow: Right 10">
            <a:extLst>
              <a:ext uri="{FF2B5EF4-FFF2-40B4-BE49-F238E27FC236}">
                <a16:creationId xmlns:a16="http://schemas.microsoft.com/office/drawing/2014/main" id="{CCD35146-D960-EA7C-B822-B1C8913D2782}"/>
              </a:ext>
            </a:extLst>
          </p:cNvPr>
          <p:cNvSpPr/>
          <p:nvPr/>
        </p:nvSpPr>
        <p:spPr>
          <a:xfrm rot="8803474">
            <a:off x="9310062" y="4186816"/>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22E5555E-81E3-6634-9A14-9D2C579A33EE}"/>
              </a:ext>
            </a:extLst>
          </p:cNvPr>
          <p:cNvSpPr/>
          <p:nvPr/>
        </p:nvSpPr>
        <p:spPr>
          <a:xfrm>
            <a:off x="10255923" y="4350177"/>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7">
            <a:extLst>
              <a:ext uri="{FF2B5EF4-FFF2-40B4-BE49-F238E27FC236}">
                <a16:creationId xmlns:a16="http://schemas.microsoft.com/office/drawing/2014/main" id="{FB245257-B9D1-DE50-E3E4-5B866D3BFBC3}"/>
              </a:ext>
            </a:extLst>
          </p:cNvPr>
          <p:cNvSpPr txBox="1"/>
          <p:nvPr/>
        </p:nvSpPr>
        <p:spPr>
          <a:xfrm>
            <a:off x="1722496" y="5917476"/>
            <a:ext cx="8747007"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dirty="0"/>
              <a:t>Clicking draw nucleus removes Cyto channel allowing better visualization of nucleus</a:t>
            </a:r>
          </a:p>
          <a:p>
            <a:pPr marL="285750" indent="-285750">
              <a:buFont typeface="Arial"/>
              <a:buChar char="•"/>
            </a:pPr>
            <a:r>
              <a:rPr lang="en-US" dirty="0"/>
              <a:t>Left click creates a new vertex, right click ends the nucleus outline</a:t>
            </a:r>
          </a:p>
        </p:txBody>
      </p:sp>
    </p:spTree>
    <p:extLst>
      <p:ext uri="{BB962C8B-B14F-4D97-AF65-F5344CB8AC3E}">
        <p14:creationId xmlns:p14="http://schemas.microsoft.com/office/powerpoint/2010/main" val="767090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B55D9-BCE7-FCD2-797B-90224AA034FE}"/>
              </a:ext>
            </a:extLst>
          </p:cNvPr>
          <p:cNvSpPr>
            <a:spLocks noGrp="1"/>
          </p:cNvSpPr>
          <p:nvPr>
            <p:ph type="title"/>
          </p:nvPr>
        </p:nvSpPr>
        <p:spPr/>
        <p:txBody>
          <a:bodyPr/>
          <a:lstStyle/>
          <a:p>
            <a:r>
              <a:rPr lang="en-US" dirty="0"/>
              <a:t>Step 5: Draw Cell</a:t>
            </a:r>
            <a:endParaRPr lang="en-CA" dirty="0"/>
          </a:p>
        </p:txBody>
      </p:sp>
      <p:pic>
        <p:nvPicPr>
          <p:cNvPr id="5" name="Picture 4">
            <a:extLst>
              <a:ext uri="{FF2B5EF4-FFF2-40B4-BE49-F238E27FC236}">
                <a16:creationId xmlns:a16="http://schemas.microsoft.com/office/drawing/2014/main" id="{4B88453F-BDD4-6F31-04FC-E8787B9B0B29}"/>
              </a:ext>
            </a:extLst>
          </p:cNvPr>
          <p:cNvPicPr>
            <a:picLocks noChangeAspect="1"/>
          </p:cNvPicPr>
          <p:nvPr/>
        </p:nvPicPr>
        <p:blipFill>
          <a:blip r:embed="rId2"/>
          <a:stretch>
            <a:fillRect/>
          </a:stretch>
        </p:blipFill>
        <p:spPr>
          <a:xfrm>
            <a:off x="6555593" y="1792334"/>
            <a:ext cx="5220171" cy="4162922"/>
          </a:xfrm>
          <a:prstGeom prst="rect">
            <a:avLst/>
          </a:prstGeom>
        </p:spPr>
      </p:pic>
      <p:sp>
        <p:nvSpPr>
          <p:cNvPr id="7" name="Arrow: Right 6">
            <a:extLst>
              <a:ext uri="{FF2B5EF4-FFF2-40B4-BE49-F238E27FC236}">
                <a16:creationId xmlns:a16="http://schemas.microsoft.com/office/drawing/2014/main" id="{58125C26-A621-A2E7-3A05-F47FB931FC50}"/>
              </a:ext>
            </a:extLst>
          </p:cNvPr>
          <p:cNvSpPr/>
          <p:nvPr/>
        </p:nvSpPr>
        <p:spPr>
          <a:xfrm>
            <a:off x="5840349" y="3747709"/>
            <a:ext cx="511301"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17">
            <a:extLst>
              <a:ext uri="{FF2B5EF4-FFF2-40B4-BE49-F238E27FC236}">
                <a16:creationId xmlns:a16="http://schemas.microsoft.com/office/drawing/2014/main" id="{E4A62943-F7D1-C532-64F7-570A2C07A332}"/>
              </a:ext>
            </a:extLst>
          </p:cNvPr>
          <p:cNvSpPr txBox="1"/>
          <p:nvPr/>
        </p:nvSpPr>
        <p:spPr>
          <a:xfrm>
            <a:off x="2569208" y="6063780"/>
            <a:ext cx="700088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dirty="0"/>
              <a:t>Left click creates a new vertex, right click ends the nucleus outline</a:t>
            </a:r>
          </a:p>
        </p:txBody>
      </p:sp>
      <p:pic>
        <p:nvPicPr>
          <p:cNvPr id="11" name="Picture 10">
            <a:extLst>
              <a:ext uri="{FF2B5EF4-FFF2-40B4-BE49-F238E27FC236}">
                <a16:creationId xmlns:a16="http://schemas.microsoft.com/office/drawing/2014/main" id="{3B8F26AE-AD54-C2C0-F452-1F6DD2D4B9B2}"/>
              </a:ext>
            </a:extLst>
          </p:cNvPr>
          <p:cNvPicPr>
            <a:picLocks noChangeAspect="1"/>
          </p:cNvPicPr>
          <p:nvPr/>
        </p:nvPicPr>
        <p:blipFill>
          <a:blip r:embed="rId3"/>
          <a:stretch>
            <a:fillRect/>
          </a:stretch>
        </p:blipFill>
        <p:spPr>
          <a:xfrm>
            <a:off x="416236" y="1789034"/>
            <a:ext cx="5220171" cy="4169518"/>
          </a:xfrm>
          <a:prstGeom prst="rect">
            <a:avLst/>
          </a:prstGeom>
        </p:spPr>
      </p:pic>
      <p:sp>
        <p:nvSpPr>
          <p:cNvPr id="12" name="Arrow: Right 11">
            <a:extLst>
              <a:ext uri="{FF2B5EF4-FFF2-40B4-BE49-F238E27FC236}">
                <a16:creationId xmlns:a16="http://schemas.microsoft.com/office/drawing/2014/main" id="{F79C18DC-9345-CAEC-C441-A751B577FF50}"/>
              </a:ext>
            </a:extLst>
          </p:cNvPr>
          <p:cNvSpPr/>
          <p:nvPr/>
        </p:nvSpPr>
        <p:spPr>
          <a:xfrm rot="8803474">
            <a:off x="3238863" y="4351409"/>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Arrow: Right 12">
            <a:extLst>
              <a:ext uri="{FF2B5EF4-FFF2-40B4-BE49-F238E27FC236}">
                <a16:creationId xmlns:a16="http://schemas.microsoft.com/office/drawing/2014/main" id="{DDC9F3D9-C9CD-662B-555F-FC44737737FF}"/>
              </a:ext>
            </a:extLst>
          </p:cNvPr>
          <p:cNvSpPr/>
          <p:nvPr/>
        </p:nvSpPr>
        <p:spPr>
          <a:xfrm rot="8803474">
            <a:off x="9448652" y="4287768"/>
            <a:ext cx="279446" cy="94444"/>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74497297-EED2-9676-BF82-234DBDC5E1D2}"/>
              </a:ext>
            </a:extLst>
          </p:cNvPr>
          <p:cNvSpPr/>
          <p:nvPr/>
        </p:nvSpPr>
        <p:spPr>
          <a:xfrm>
            <a:off x="4239953" y="4542202"/>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A68979F6-BBCD-053A-89DA-D6F21A184CE2}"/>
              </a:ext>
            </a:extLst>
          </p:cNvPr>
          <p:cNvSpPr/>
          <p:nvPr/>
        </p:nvSpPr>
        <p:spPr>
          <a:xfrm>
            <a:off x="10363164" y="4727447"/>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639764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89111-450A-BD36-F4B8-F649AA9009F9}"/>
              </a:ext>
            </a:extLst>
          </p:cNvPr>
          <p:cNvSpPr>
            <a:spLocks noGrp="1"/>
          </p:cNvSpPr>
          <p:nvPr>
            <p:ph type="title"/>
          </p:nvPr>
        </p:nvSpPr>
        <p:spPr/>
        <p:txBody>
          <a:bodyPr/>
          <a:lstStyle/>
          <a:p>
            <a:r>
              <a:rPr lang="en-US" dirty="0"/>
              <a:t>Step 6: Save and Next Image</a:t>
            </a:r>
            <a:endParaRPr lang="en-CA" dirty="0"/>
          </a:p>
        </p:txBody>
      </p:sp>
      <p:sp>
        <p:nvSpPr>
          <p:cNvPr id="3" name="Content Placeholder 2">
            <a:extLst>
              <a:ext uri="{FF2B5EF4-FFF2-40B4-BE49-F238E27FC236}">
                <a16:creationId xmlns:a16="http://schemas.microsoft.com/office/drawing/2014/main" id="{1108DF45-7BC2-C979-70C2-734B3D3E81FB}"/>
              </a:ext>
            </a:extLst>
          </p:cNvPr>
          <p:cNvSpPr>
            <a:spLocks noGrp="1"/>
          </p:cNvSpPr>
          <p:nvPr>
            <p:ph idx="1"/>
          </p:nvPr>
        </p:nvSpPr>
        <p:spPr>
          <a:xfrm>
            <a:off x="838200" y="1825625"/>
            <a:ext cx="5535168" cy="4351338"/>
          </a:xfrm>
        </p:spPr>
        <p:txBody>
          <a:bodyPr/>
          <a:lstStyle/>
          <a:p>
            <a:pPr marL="514350" indent="-514350">
              <a:buFont typeface="+mj-lt"/>
              <a:buAutoNum type="arabicParenR"/>
            </a:pPr>
            <a:r>
              <a:rPr lang="en-US" dirty="0"/>
              <a:t>Once happy with the outlines press “Save”</a:t>
            </a:r>
          </a:p>
          <a:p>
            <a:pPr marL="514350" indent="-514350">
              <a:buFont typeface="+mj-lt"/>
              <a:buAutoNum type="arabicParenR"/>
            </a:pPr>
            <a:r>
              <a:rPr lang="en-US" dirty="0"/>
              <a:t>Advance to next image using the “Next” button</a:t>
            </a:r>
          </a:p>
          <a:p>
            <a:pPr marL="514350" indent="-514350">
              <a:buFont typeface="+mj-lt"/>
              <a:buAutoNum type="arabicParenR"/>
            </a:pPr>
            <a:r>
              <a:rPr lang="en-US" dirty="0"/>
              <a:t>Go back to a previous image using “Previous” button</a:t>
            </a:r>
          </a:p>
          <a:p>
            <a:pPr marL="0" indent="0">
              <a:buNone/>
            </a:pPr>
            <a:r>
              <a:rPr lang="en-US" b="1" dirty="0"/>
              <a:t>Note: </a:t>
            </a:r>
            <a:r>
              <a:rPr lang="en-US" dirty="0"/>
              <a:t>if you go to adjust an image after already saving results delete previous masks in folder before saving again</a:t>
            </a:r>
            <a:endParaRPr lang="en-CA" dirty="0"/>
          </a:p>
        </p:txBody>
      </p:sp>
      <p:pic>
        <p:nvPicPr>
          <p:cNvPr id="4" name="Picture 3">
            <a:extLst>
              <a:ext uri="{FF2B5EF4-FFF2-40B4-BE49-F238E27FC236}">
                <a16:creationId xmlns:a16="http://schemas.microsoft.com/office/drawing/2014/main" id="{EE3BC962-EF6B-EF84-BA2C-3BEB8B032A64}"/>
              </a:ext>
            </a:extLst>
          </p:cNvPr>
          <p:cNvPicPr>
            <a:picLocks noChangeAspect="1"/>
          </p:cNvPicPr>
          <p:nvPr/>
        </p:nvPicPr>
        <p:blipFill>
          <a:blip r:embed="rId2"/>
          <a:stretch>
            <a:fillRect/>
          </a:stretch>
        </p:blipFill>
        <p:spPr>
          <a:xfrm>
            <a:off x="6614500" y="1915838"/>
            <a:ext cx="5221850" cy="4170911"/>
          </a:xfrm>
          <a:prstGeom prst="rect">
            <a:avLst/>
          </a:prstGeom>
        </p:spPr>
      </p:pic>
      <p:sp>
        <p:nvSpPr>
          <p:cNvPr id="5" name="TextBox 4">
            <a:extLst>
              <a:ext uri="{FF2B5EF4-FFF2-40B4-BE49-F238E27FC236}">
                <a16:creationId xmlns:a16="http://schemas.microsoft.com/office/drawing/2014/main" id="{969F7C80-6746-F522-18D5-76E154E3E03B}"/>
              </a:ext>
            </a:extLst>
          </p:cNvPr>
          <p:cNvSpPr txBox="1"/>
          <p:nvPr/>
        </p:nvSpPr>
        <p:spPr>
          <a:xfrm>
            <a:off x="11836350" y="5717417"/>
            <a:ext cx="338328" cy="369332"/>
          </a:xfrm>
          <a:prstGeom prst="rect">
            <a:avLst/>
          </a:prstGeom>
          <a:noFill/>
        </p:spPr>
        <p:txBody>
          <a:bodyPr wrap="square" rtlCol="0">
            <a:spAutoFit/>
          </a:bodyPr>
          <a:lstStyle/>
          <a:p>
            <a:r>
              <a:rPr lang="en-US" dirty="0">
                <a:solidFill>
                  <a:srgbClr val="FF0000"/>
                </a:solidFill>
              </a:rPr>
              <a:t>1</a:t>
            </a:r>
            <a:endParaRPr lang="en-CA" dirty="0">
              <a:solidFill>
                <a:srgbClr val="FF0000"/>
              </a:solidFill>
            </a:endParaRPr>
          </a:p>
        </p:txBody>
      </p:sp>
      <p:sp>
        <p:nvSpPr>
          <p:cNvPr id="6" name="Oval 5">
            <a:extLst>
              <a:ext uri="{FF2B5EF4-FFF2-40B4-BE49-F238E27FC236}">
                <a16:creationId xmlns:a16="http://schemas.microsoft.com/office/drawing/2014/main" id="{2D4E6DB9-EC42-CBF4-B237-1009ABC738EE}"/>
              </a:ext>
            </a:extLst>
          </p:cNvPr>
          <p:cNvSpPr/>
          <p:nvPr/>
        </p:nvSpPr>
        <p:spPr>
          <a:xfrm>
            <a:off x="10396318" y="5721778"/>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D7319E44-70FD-4EC5-C043-91AABD04DA48}"/>
              </a:ext>
            </a:extLst>
          </p:cNvPr>
          <p:cNvSpPr/>
          <p:nvPr/>
        </p:nvSpPr>
        <p:spPr>
          <a:xfrm>
            <a:off x="10396318" y="5496628"/>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Oval 7">
            <a:extLst>
              <a:ext uri="{FF2B5EF4-FFF2-40B4-BE49-F238E27FC236}">
                <a16:creationId xmlns:a16="http://schemas.microsoft.com/office/drawing/2014/main" id="{113A2CDC-5514-6638-4590-0960363F9F0A}"/>
              </a:ext>
            </a:extLst>
          </p:cNvPr>
          <p:cNvSpPr/>
          <p:nvPr/>
        </p:nvSpPr>
        <p:spPr>
          <a:xfrm>
            <a:off x="10396318" y="5292131"/>
            <a:ext cx="1440032" cy="2424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11BAB957-2AFE-78A1-3EE2-8BFDEF4165E6}"/>
              </a:ext>
            </a:extLst>
          </p:cNvPr>
          <p:cNvSpPr txBox="1"/>
          <p:nvPr/>
        </p:nvSpPr>
        <p:spPr>
          <a:xfrm>
            <a:off x="11836350" y="5225588"/>
            <a:ext cx="338328" cy="369332"/>
          </a:xfrm>
          <a:prstGeom prst="rect">
            <a:avLst/>
          </a:prstGeom>
          <a:noFill/>
        </p:spPr>
        <p:txBody>
          <a:bodyPr wrap="square" rtlCol="0">
            <a:spAutoFit/>
          </a:bodyPr>
          <a:lstStyle/>
          <a:p>
            <a:r>
              <a:rPr lang="en-US" dirty="0">
                <a:solidFill>
                  <a:srgbClr val="FF0000"/>
                </a:solidFill>
              </a:rPr>
              <a:t>2</a:t>
            </a:r>
            <a:endParaRPr lang="en-CA" dirty="0">
              <a:solidFill>
                <a:srgbClr val="FF0000"/>
              </a:solidFill>
            </a:endParaRPr>
          </a:p>
        </p:txBody>
      </p:sp>
      <p:sp>
        <p:nvSpPr>
          <p:cNvPr id="11" name="TextBox 10">
            <a:extLst>
              <a:ext uri="{FF2B5EF4-FFF2-40B4-BE49-F238E27FC236}">
                <a16:creationId xmlns:a16="http://schemas.microsoft.com/office/drawing/2014/main" id="{352FD0D1-35DB-BAE1-253C-D4720901AA86}"/>
              </a:ext>
            </a:extLst>
          </p:cNvPr>
          <p:cNvSpPr txBox="1"/>
          <p:nvPr/>
        </p:nvSpPr>
        <p:spPr>
          <a:xfrm>
            <a:off x="11836350" y="5446250"/>
            <a:ext cx="338328" cy="369332"/>
          </a:xfrm>
          <a:prstGeom prst="rect">
            <a:avLst/>
          </a:prstGeom>
          <a:noFill/>
        </p:spPr>
        <p:txBody>
          <a:bodyPr wrap="square" rtlCol="0">
            <a:spAutoFit/>
          </a:bodyPr>
          <a:lstStyle/>
          <a:p>
            <a:r>
              <a:rPr lang="en-US" dirty="0">
                <a:solidFill>
                  <a:srgbClr val="FF0000"/>
                </a:solidFill>
              </a:rPr>
              <a:t>3</a:t>
            </a:r>
            <a:endParaRPr lang="en-CA" dirty="0">
              <a:solidFill>
                <a:srgbClr val="FF0000"/>
              </a:solidFill>
            </a:endParaRPr>
          </a:p>
        </p:txBody>
      </p:sp>
    </p:spTree>
    <p:extLst>
      <p:ext uri="{BB962C8B-B14F-4D97-AF65-F5344CB8AC3E}">
        <p14:creationId xmlns:p14="http://schemas.microsoft.com/office/powerpoint/2010/main" val="1829186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EDDF7AA-68F1-68B7-6DB5-1391CC710B82}"/>
              </a:ext>
            </a:extLst>
          </p:cNvPr>
          <p:cNvSpPr>
            <a:spLocks noGrp="1"/>
          </p:cNvSpPr>
          <p:nvPr>
            <p:ph type="title"/>
          </p:nvPr>
        </p:nvSpPr>
        <p:spPr>
          <a:xfrm>
            <a:off x="2502281" y="2862262"/>
            <a:ext cx="7187438" cy="1133475"/>
          </a:xfrm>
        </p:spPr>
        <p:txBody>
          <a:bodyPr/>
          <a:lstStyle/>
          <a:p>
            <a:pPr algn="ctr"/>
            <a:r>
              <a:rPr lang="en-US" dirty="0"/>
              <a:t>Questions?</a:t>
            </a:r>
            <a:endParaRPr lang="en-CA" dirty="0"/>
          </a:p>
        </p:txBody>
      </p:sp>
    </p:spTree>
    <p:extLst>
      <p:ext uri="{BB962C8B-B14F-4D97-AF65-F5344CB8AC3E}">
        <p14:creationId xmlns:p14="http://schemas.microsoft.com/office/powerpoint/2010/main" val="624163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6E309-8731-56A7-97D1-7F6F4967474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76F42FE-0DAB-5AD7-5A52-F838584FBD4D}"/>
              </a:ext>
            </a:extLst>
          </p:cNvPr>
          <p:cNvSpPr>
            <a:spLocks noGrp="1"/>
          </p:cNvSpPr>
          <p:nvPr>
            <p:ph type="title"/>
          </p:nvPr>
        </p:nvSpPr>
        <p:spPr>
          <a:xfrm>
            <a:off x="2502281" y="2862262"/>
            <a:ext cx="7187438" cy="1133475"/>
          </a:xfrm>
        </p:spPr>
        <p:txBody>
          <a:bodyPr>
            <a:normAutofit fontScale="90000"/>
          </a:bodyPr>
          <a:lstStyle/>
          <a:p>
            <a:pPr algn="ctr"/>
            <a:r>
              <a:rPr lang="en-US" dirty="0"/>
              <a:t>CellSAM: a foundation model for cell segmentation (Marks et al.)</a:t>
            </a:r>
            <a:endParaRPr lang="en-CA" dirty="0"/>
          </a:p>
        </p:txBody>
      </p:sp>
    </p:spTree>
    <p:extLst>
      <p:ext uri="{BB962C8B-B14F-4D97-AF65-F5344CB8AC3E}">
        <p14:creationId xmlns:p14="http://schemas.microsoft.com/office/powerpoint/2010/main" val="2399135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AAE7-6ACF-8929-16ED-6FA3B2B434F4}"/>
              </a:ext>
            </a:extLst>
          </p:cNvPr>
          <p:cNvSpPr>
            <a:spLocks noGrp="1"/>
          </p:cNvSpPr>
          <p:nvPr>
            <p:ph type="title"/>
          </p:nvPr>
        </p:nvSpPr>
        <p:spPr/>
        <p:txBody>
          <a:bodyPr/>
          <a:lstStyle/>
          <a:p>
            <a:r>
              <a:rPr lang="en-US" dirty="0"/>
              <a:t>CellSAM Overview</a:t>
            </a:r>
            <a:endParaRPr lang="en-CA" dirty="0"/>
          </a:p>
        </p:txBody>
      </p:sp>
      <p:pic>
        <p:nvPicPr>
          <p:cNvPr id="2050" name="Picture 2" descr="figure 1">
            <a:extLst>
              <a:ext uri="{FF2B5EF4-FFF2-40B4-BE49-F238E27FC236}">
                <a16:creationId xmlns:a16="http://schemas.microsoft.com/office/drawing/2014/main" id="{78734826-D67D-AC91-8D8E-E5E6CE02E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2376" y="1690688"/>
            <a:ext cx="9227248" cy="4418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051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303EF-4AB8-8818-14EF-D67A24720717}"/>
              </a:ext>
            </a:extLst>
          </p:cNvPr>
          <p:cNvSpPr>
            <a:spLocks noGrp="1"/>
          </p:cNvSpPr>
          <p:nvPr>
            <p:ph type="title"/>
          </p:nvPr>
        </p:nvSpPr>
        <p:spPr/>
        <p:txBody>
          <a:bodyPr/>
          <a:lstStyle/>
          <a:p>
            <a:r>
              <a:rPr lang="en-US" dirty="0"/>
              <a:t>Example With Our </a:t>
            </a:r>
            <a:r>
              <a:rPr lang="en-US" dirty="0" err="1"/>
              <a:t>smFISH</a:t>
            </a:r>
            <a:r>
              <a:rPr lang="en-US" dirty="0"/>
              <a:t> Images</a:t>
            </a:r>
            <a:endParaRPr lang="en-CA" dirty="0"/>
          </a:p>
        </p:txBody>
      </p:sp>
      <p:pic>
        <p:nvPicPr>
          <p:cNvPr id="5" name="Picture 4">
            <a:extLst>
              <a:ext uri="{FF2B5EF4-FFF2-40B4-BE49-F238E27FC236}">
                <a16:creationId xmlns:a16="http://schemas.microsoft.com/office/drawing/2014/main" id="{BD49AE15-F09C-8295-24E2-F13E5444ABDA}"/>
              </a:ext>
            </a:extLst>
          </p:cNvPr>
          <p:cNvPicPr>
            <a:picLocks noChangeAspect="1"/>
          </p:cNvPicPr>
          <p:nvPr/>
        </p:nvPicPr>
        <p:blipFill>
          <a:blip r:embed="rId2"/>
          <a:stretch>
            <a:fillRect/>
          </a:stretch>
        </p:blipFill>
        <p:spPr>
          <a:xfrm>
            <a:off x="6827418" y="1690687"/>
            <a:ext cx="4407510" cy="4654607"/>
          </a:xfrm>
          <a:prstGeom prst="rect">
            <a:avLst/>
          </a:prstGeom>
        </p:spPr>
      </p:pic>
      <p:pic>
        <p:nvPicPr>
          <p:cNvPr id="7" name="Picture 6">
            <a:extLst>
              <a:ext uri="{FF2B5EF4-FFF2-40B4-BE49-F238E27FC236}">
                <a16:creationId xmlns:a16="http://schemas.microsoft.com/office/drawing/2014/main" id="{2DA810F6-F79F-0C5C-CEC6-45A1E7A555E4}"/>
              </a:ext>
            </a:extLst>
          </p:cNvPr>
          <p:cNvPicPr>
            <a:picLocks noChangeAspect="1"/>
          </p:cNvPicPr>
          <p:nvPr/>
        </p:nvPicPr>
        <p:blipFill>
          <a:blip r:embed="rId3"/>
          <a:stretch>
            <a:fillRect/>
          </a:stretch>
        </p:blipFill>
        <p:spPr>
          <a:xfrm>
            <a:off x="838200" y="1690687"/>
            <a:ext cx="4413554" cy="4654607"/>
          </a:xfrm>
          <a:prstGeom prst="rect">
            <a:avLst/>
          </a:prstGeom>
        </p:spPr>
      </p:pic>
      <p:sp>
        <p:nvSpPr>
          <p:cNvPr id="8" name="Arrow: Right 7">
            <a:extLst>
              <a:ext uri="{FF2B5EF4-FFF2-40B4-BE49-F238E27FC236}">
                <a16:creationId xmlns:a16="http://schemas.microsoft.com/office/drawing/2014/main" id="{2E78EEF1-8CF8-465A-D278-EA3CF0CE9725}"/>
              </a:ext>
            </a:extLst>
          </p:cNvPr>
          <p:cNvSpPr/>
          <p:nvPr/>
        </p:nvSpPr>
        <p:spPr>
          <a:xfrm>
            <a:off x="5504662" y="3891905"/>
            <a:ext cx="1069848" cy="25216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429783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TotalTime>
  <Words>583</Words>
  <Application>Microsoft Office PowerPoint</Application>
  <PresentationFormat>Widescreen</PresentationFormat>
  <Paragraphs>58</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Lab Programs</vt:lpstr>
      <vt:lpstr>Cell Outlining Program</vt:lpstr>
      <vt:lpstr>Program Premise</vt:lpstr>
      <vt:lpstr>Step 1: Create Max Projections</vt:lpstr>
      <vt:lpstr>Step 2: Setup</vt:lpstr>
      <vt:lpstr>Step 3: Visualization of Images</vt:lpstr>
      <vt:lpstr>Step 4: Adjust Image Wide Parameters</vt:lpstr>
      <vt:lpstr>Step 4: Num Levels</vt:lpstr>
      <vt:lpstr>Step 4: Edge Minimum</vt:lpstr>
      <vt:lpstr>Step 4: Border</vt:lpstr>
      <vt:lpstr>Step 5: Manual Adjustments</vt:lpstr>
      <vt:lpstr>Step 5: Deleting Selected Cells</vt:lpstr>
      <vt:lpstr>Step 5: Deleting Unselected Cells</vt:lpstr>
      <vt:lpstr>Step 5: Adjust Vertices</vt:lpstr>
      <vt:lpstr>Step 5: Draw Nucleus</vt:lpstr>
      <vt:lpstr>Step 5: Draw Cell</vt:lpstr>
      <vt:lpstr>Step 6: Save and Next Image</vt:lpstr>
      <vt:lpstr>Questions?</vt:lpstr>
      <vt:lpstr>CellSAM: a foundation model for cell segmentation (Marks et al.)</vt:lpstr>
      <vt:lpstr>CellSAM Overview</vt:lpstr>
      <vt:lpstr>Example With Our smFISH Images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Lilli Wolfart</dc:creator>
  <cp:lastModifiedBy>Shruti Iyer</cp:lastModifiedBy>
  <cp:revision>4</cp:revision>
  <dcterms:created xsi:type="dcterms:W3CDTF">2026-01-12T21:19:15Z</dcterms:created>
  <dcterms:modified xsi:type="dcterms:W3CDTF">2026-01-16T20:06:40Z</dcterms:modified>
</cp:coreProperties>
</file>